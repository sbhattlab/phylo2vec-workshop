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1"/>
  </p:sldMasterIdLst>
  <p:notesMasterIdLst>
    <p:notesMasterId r:id="rId26"/>
  </p:notesMasterIdLst>
  <p:handoutMasterIdLst>
    <p:handoutMasterId r:id="rId27"/>
  </p:handoutMasterIdLst>
  <p:sldIdLst>
    <p:sldId id="441" r:id="rId2"/>
    <p:sldId id="450" r:id="rId3"/>
    <p:sldId id="495" r:id="rId4"/>
    <p:sldId id="496" r:id="rId5"/>
    <p:sldId id="592" r:id="rId6"/>
    <p:sldId id="497" r:id="rId7"/>
    <p:sldId id="593" r:id="rId8"/>
    <p:sldId id="619" r:id="rId9"/>
    <p:sldId id="595" r:id="rId10"/>
    <p:sldId id="598" r:id="rId11"/>
    <p:sldId id="599" r:id="rId12"/>
    <p:sldId id="600" r:id="rId13"/>
    <p:sldId id="602" r:id="rId14"/>
    <p:sldId id="607" r:id="rId15"/>
    <p:sldId id="605" r:id="rId16"/>
    <p:sldId id="606" r:id="rId17"/>
    <p:sldId id="615" r:id="rId18"/>
    <p:sldId id="608" r:id="rId19"/>
    <p:sldId id="616" r:id="rId20"/>
    <p:sldId id="609" r:id="rId21"/>
    <p:sldId id="618" r:id="rId22"/>
    <p:sldId id="611" r:id="rId23"/>
    <p:sldId id="613" r:id="rId24"/>
    <p:sldId id="62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6">
          <p15:clr>
            <a:srgbClr val="A4A3A4"/>
          </p15:clr>
        </p15:guide>
        <p15:guide id="2" orient="horz" pos="39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8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359" autoAdjust="0"/>
  </p:normalViewPr>
  <p:slideViewPr>
    <p:cSldViewPr snapToGrid="0" showGuides="1">
      <p:cViewPr varScale="1">
        <p:scale>
          <a:sx n="60" d="100"/>
          <a:sy n="60" d="100"/>
        </p:scale>
        <p:origin x="96" y="1026"/>
      </p:cViewPr>
      <p:guideLst>
        <p:guide orient="horz" pos="936"/>
        <p:guide orient="horz" pos="39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5" d="100"/>
          <a:sy n="115" d="100"/>
        </p:scale>
        <p:origin x="507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F9E11-F642-4BF2-B4DC-AF7D35EA7551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371A3-64EC-4735-8565-D99D782796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2714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2A38B-F9FA-4036-A084-652409E98F08}" type="datetimeFigureOut">
              <a:rPr lang="en-GB" smtClean="0"/>
              <a:t>04/01/2026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36F85-577F-4A92-A47F-D540A2BCC8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omputer_science" TargetMode="External"/><Relationship Id="rId3" Type="http://schemas.openxmlformats.org/officeDocument/2006/relationships/hyperlink" Target="https://en.wikipedia.org/wiki/Computer_science" TargetMode="External"/><Relationship Id="rId7" Type="http://schemas.openxmlformats.org/officeDocument/2006/relationships/hyperlink" Target="https://en.wikipedia.org/wiki/Tree_rotation" TargetMode="External"/><Relationship Id="rId12" Type="http://schemas.openxmlformats.org/officeDocument/2006/relationships/hyperlink" Target="https://en.wikipedia.org/wiki/Tree_rotation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Big_O_notation" TargetMode="External"/><Relationship Id="rId11" Type="http://schemas.openxmlformats.org/officeDocument/2006/relationships/hyperlink" Target="https://en.wikipedia.org/wiki/Big_O_notation" TargetMode="External"/><Relationship Id="rId5" Type="http://schemas.openxmlformats.org/officeDocument/2006/relationships/hyperlink" Target="https://en.wikipedia.org/wiki/Child_nodes" TargetMode="External"/><Relationship Id="rId10" Type="http://schemas.openxmlformats.org/officeDocument/2006/relationships/hyperlink" Target="https://en.wikipedia.org/wiki/Child_nodes" TargetMode="External"/><Relationship Id="rId4" Type="http://schemas.openxmlformats.org/officeDocument/2006/relationships/hyperlink" Target="https://en.wikipedia.org/wiki/Self-balancing_binary_search_tree" TargetMode="External"/><Relationship Id="rId9" Type="http://schemas.openxmlformats.org/officeDocument/2006/relationships/hyperlink" Target="https://en.wikipedia.org/wiki/Self-balancing_binary_search_tree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
##-AccessibilityAssistant: Skip layout check-##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07689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
##-AccessibilityAssistant: Skip layout check-##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da-DK" smtClean="0"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4059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122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3882-BE1C-69AE-A623-3B1FB3EB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5F366-6618-67DA-ADB0-78AF38D52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81818-17CF-5DA3-FB65-9F0D9DFDC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41D21-50C4-917B-44BB-22AC531D7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428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>
                <a:latin typeface="Aptos" panose="020B0004020202020204" pitchFamily="34" charset="0"/>
              </a:rPr>
              <a:t>5</a:t>
            </a:fld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559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F0AA-C321-3D64-05FE-432AB3EE8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BDFFE-76AD-8120-32DE-D2C71EF6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2EAC48-6065-7268-B3DF-1C8CEEAA0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BE955-C828-8CAB-1480-0B3236F30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807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891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946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5037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6438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331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8285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30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448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2123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9740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9FBA-BFCA-0D73-C9DE-64587FC0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C9661-F289-B4CB-7580-D06496693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96ACA65-22C2-6B4C-0CF4-0FF8F15F4C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3" tooltip="Computer science"/>
                  </a:rPr>
                  <a:t>computer science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AVL tree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(named after inventors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delson-</a:t>
                </a:r>
                <a:r>
                  <a:rPr lang="en-US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elsky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and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andis) is a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4" tooltip="Self-balancing binary search tree"/>
                  </a:rPr>
                  <a:t>self-balancing binary search tree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In an AVL tree, the heights of the two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5" tooltip="Child nodes"/>
                  </a:rPr>
                  <a:t>child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subtrees of any node differ by at most one; if at any time they differ by more than one, rebalancing is done to restore this property. Lookup, insertion, and deletion all take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6" tooltip="Big O notation"/>
                  </a:rPr>
                  <a:t>O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(log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 time in both the average and worst cases, where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is the number of nodes in the tree prior to the operation. Insertions and deletions may require the tree to be rebalanced by one or more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7" tooltip="Tree rotation"/>
                  </a:rPr>
                  <a:t>tree rotations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Sure! Here’s a quick breakdown of how an </a:t>
                </a:r>
                <a:r>
                  <a:rPr lang="en-US" b="1" dirty="0"/>
                  <a:t>AVL tree</a:t>
                </a:r>
                <a:r>
                  <a:rPr lang="en-US" dirty="0"/>
                  <a:t> works:</a:t>
                </a:r>
              </a:p>
              <a:p>
                <a:r>
                  <a:rPr lang="en-US" dirty="0"/>
                  <a:t>It’s a </a:t>
                </a:r>
                <a:r>
                  <a:rPr lang="en-US" b="1" dirty="0"/>
                  <a:t>binary search tree (BST)</a:t>
                </a:r>
                <a:r>
                  <a:rPr lang="en-US" dirty="0"/>
                  <a:t> → every node’s left child is smaller, right child is bigger.</a:t>
                </a:r>
              </a:p>
              <a:p>
                <a:r>
                  <a:rPr lang="en-US" dirty="0"/>
                  <a:t>After every insertion (or deletion), it checks the </a:t>
                </a:r>
                <a:r>
                  <a:rPr lang="en-US" b="1" dirty="0"/>
                  <a:t>balance factor</a:t>
                </a:r>
                <a:r>
                  <a:rPr lang="en-US" dirty="0"/>
                  <a:t> of each node (height of left subtree − height of right subtree).</a:t>
                </a:r>
              </a:p>
              <a:p>
                <a:r>
                  <a:rPr lang="en-US" dirty="0"/>
                  <a:t>If any node becomes </a:t>
                </a:r>
                <a:r>
                  <a:rPr lang="en-US" b="1" dirty="0"/>
                  <a:t>too unbalanced</a:t>
                </a:r>
                <a:r>
                  <a:rPr lang="en-US" dirty="0"/>
                  <a:t> (difference &gt; 1), the tree fixes itself using </a:t>
                </a:r>
                <a:r>
                  <a:rPr lang="en-US" b="1" dirty="0"/>
                  <a:t>rotations</a:t>
                </a:r>
                <a:r>
                  <a:rPr lang="en-US" dirty="0"/>
                  <a:t> (small tree rearrangements).</a:t>
                </a:r>
              </a:p>
              <a:p>
                <a:r>
                  <a:rPr lang="en-US" dirty="0"/>
                  <a:t>These rotations keep the tree’s height about </a:t>
                </a:r>
                <a:r>
                  <a:rPr lang="en-US" b="1" dirty="0"/>
                  <a:t>log(n)</a:t>
                </a:r>
                <a:r>
                  <a:rPr lang="en-US" dirty="0"/>
                  <a:t>, so searches, insertions, and deletions stay fast (O(log n)).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96ACA65-22C2-6B4C-0CF4-0FF8F15F4C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8" tooltip="Computer science"/>
                  </a:rPr>
                  <a:t>computer science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an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AVL tree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(named after inventors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delson-</a:t>
                </a:r>
                <a:r>
                  <a:rPr lang="en-US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elsky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and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andis) is a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9" tooltip="Self-balancing binary search tree"/>
                  </a:rPr>
                  <a:t>self-balancing binary search tree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In an AVL tree, the heights of the two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10" tooltip="Child nodes"/>
                  </a:rPr>
                  <a:t>child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subtrees of any node differ by at most one; if at any time they differ by more than one, rebalancing is done to restore this property. Lookup, insertion, and deletion all take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11" tooltip="Big O notation"/>
                  </a:rPr>
                  <a:t>O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(log </a:t>
                </a:r>
                <a:r>
                  <a:rPr lang="en-US" sz="1200" b="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 time in both the average and worst cases, where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𝑛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is the number of nodes in the tree prior to the operation. Insertions and deletions may require the tree to be rebalanced by one or more </a:t>
                </a:r>
                <a:r>
                  <a:rPr lang="en-US" sz="1200" b="0" i="0" u="none" strike="noStrike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  <a:hlinkClick r:id="rId12" tooltip="Tree rotation"/>
                  </a:rPr>
                  <a:t>tree rotations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Sure! Here’s a quick breakdown of how an </a:t>
                </a:r>
                <a:r>
                  <a:rPr lang="en-US" b="1" dirty="0"/>
                  <a:t>AVL tree</a:t>
                </a:r>
                <a:r>
                  <a:rPr lang="en-US" dirty="0"/>
                  <a:t> works:</a:t>
                </a:r>
              </a:p>
              <a:p>
                <a:r>
                  <a:rPr lang="en-US" dirty="0"/>
                  <a:t>It’s a </a:t>
                </a:r>
                <a:r>
                  <a:rPr lang="en-US" b="1" dirty="0"/>
                  <a:t>binary search tree (BST)</a:t>
                </a:r>
                <a:r>
                  <a:rPr lang="en-US" dirty="0"/>
                  <a:t> → every node’s left child is smaller, right child is bigger.</a:t>
                </a:r>
              </a:p>
              <a:p>
                <a:r>
                  <a:rPr lang="en-US" dirty="0"/>
                  <a:t>After every insertion (or deletion), it checks the </a:t>
                </a:r>
                <a:r>
                  <a:rPr lang="en-US" b="1" dirty="0"/>
                  <a:t>balance factor</a:t>
                </a:r>
                <a:r>
                  <a:rPr lang="en-US" dirty="0"/>
                  <a:t> of each node (height of left subtree − height of right subtree).</a:t>
                </a:r>
              </a:p>
              <a:p>
                <a:r>
                  <a:rPr lang="en-US" dirty="0"/>
                  <a:t>If any node becomes </a:t>
                </a:r>
                <a:r>
                  <a:rPr lang="en-US" b="1" dirty="0"/>
                  <a:t>too unbalanced</a:t>
                </a:r>
                <a:r>
                  <a:rPr lang="en-US" dirty="0"/>
                  <a:t> (difference &gt; 1), the tree fixes itself using </a:t>
                </a:r>
                <a:r>
                  <a:rPr lang="en-US" b="1" dirty="0"/>
                  <a:t>rotations</a:t>
                </a:r>
                <a:r>
                  <a:rPr lang="en-US" dirty="0"/>
                  <a:t> (small tree rearrangements).</a:t>
                </a:r>
              </a:p>
              <a:p>
                <a:r>
                  <a:rPr lang="en-US" dirty="0"/>
                  <a:t>These rotations keep the tree’s height about </a:t>
                </a:r>
                <a:r>
                  <a:rPr lang="en-US" b="1" dirty="0"/>
                  <a:t>log(n)</a:t>
                </a:r>
                <a:r>
                  <a:rPr lang="en-US" dirty="0"/>
                  <a:t>, so searches, insertions, and deletions stay fast (O(log n)).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445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727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11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147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E86C-4C73-DAD3-2C1B-50157DA7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CBD7A-461F-E49F-F900-5BCEDBF78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05CA6-F38B-ADB9-99C5-7508702A2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a data structure for working with </a:t>
            </a:r>
            <a:r>
              <a:rPr lang="en-US" b="1" dirty="0"/>
              <a:t>prefix sums</a:t>
            </a:r>
            <a:r>
              <a:rPr lang="en-US" dirty="0"/>
              <a:t> (like sum of the first </a:t>
            </a:r>
            <a:r>
              <a:rPr lang="en-US" i="1" dirty="0"/>
              <a:t>k</a:t>
            </a:r>
            <a:r>
              <a:rPr lang="en-US" dirty="0"/>
              <a:t> numbers).</a:t>
            </a:r>
          </a:p>
          <a:p>
            <a:r>
              <a:rPr lang="en-US" dirty="0"/>
              <a:t>It lets you do two things very efficiently:</a:t>
            </a:r>
          </a:p>
          <a:p>
            <a:pPr lvl="1"/>
            <a:r>
              <a:rPr lang="en-US" b="1" dirty="0"/>
              <a:t>Update</a:t>
            </a:r>
            <a:r>
              <a:rPr lang="en-US" dirty="0"/>
              <a:t> a value in the array (O(log n))</a:t>
            </a:r>
          </a:p>
          <a:p>
            <a:pPr lvl="1"/>
            <a:r>
              <a:rPr lang="en-US" b="1" dirty="0"/>
              <a:t>Query</a:t>
            </a:r>
            <a:r>
              <a:rPr lang="en-US" dirty="0"/>
              <a:t> the sum from the start up to index </a:t>
            </a:r>
            <a:r>
              <a:rPr lang="en-US" i="1" dirty="0"/>
              <a:t>k</a:t>
            </a:r>
            <a:r>
              <a:rPr lang="en-US" dirty="0"/>
              <a:t> (O(log n))</a:t>
            </a:r>
          </a:p>
          <a:p>
            <a:r>
              <a:rPr lang="en-US" b="1" dirty="0"/>
              <a:t>How it works (idea):</a:t>
            </a:r>
            <a:endParaRPr lang="en-US" dirty="0"/>
          </a:p>
          <a:p>
            <a:r>
              <a:rPr lang="en-US" dirty="0"/>
              <a:t>The tree is stored in an </a:t>
            </a:r>
            <a:r>
              <a:rPr lang="en-US" b="1" dirty="0"/>
              <a:t>array</a:t>
            </a:r>
            <a:r>
              <a:rPr lang="en-US" dirty="0"/>
              <a:t>, not an actual tree.</a:t>
            </a:r>
          </a:p>
          <a:p>
            <a:r>
              <a:rPr lang="en-US" dirty="0"/>
              <a:t>Each position in the array keeps track of the sum of a certain range of elements (decided by the lowest set bit of the index in binary).</a:t>
            </a:r>
          </a:p>
          <a:p>
            <a:r>
              <a:rPr lang="en-US" dirty="0"/>
              <a:t>By moving through indices using those bits, you can quickly jump across ranges to compute sums or apply updates.</a:t>
            </a:r>
          </a:p>
          <a:p>
            <a:r>
              <a:rPr lang="en-US" dirty="0"/>
              <a:t>👉 In short:</a:t>
            </a:r>
            <a:br>
              <a:rPr lang="en-US" dirty="0"/>
            </a:br>
            <a:r>
              <a:rPr lang="en-US" dirty="0"/>
              <a:t>It’s a clever way of using binary representation to make prefix sums and updates really fast.</a:t>
            </a:r>
          </a:p>
          <a:p>
            <a:r>
              <a:rPr lang="en-US" dirty="0"/>
              <a:t>Want me to show you a </a:t>
            </a:r>
            <a:r>
              <a:rPr lang="en-US" b="1" dirty="0"/>
              <a:t>tiny numeric example</a:t>
            </a:r>
            <a:r>
              <a:rPr lang="en-US" dirty="0"/>
              <a:t> (like updating and querying a Fenwick tree with 5 elements)?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67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37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04379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42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hyperlink" Target="http://www.designguide.ku.dk/skabeloner/powerpoint/praesentationer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hyperlink" Target="https://image.ku.dk/shared/hWmEPPfgximErBNWW58CxRIZfLkOMC9n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lil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ptos" panose="020B00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5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C1939100-E010-4143-9AE4-D4252D808A58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0682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segl sto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gradFill flip="none"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ptos" panose="020B0004020202020204" pitchFamily="34" charset="0"/>
            </a:endParaRPr>
          </a:p>
        </p:txBody>
      </p:sp>
      <p:pic>
        <p:nvPicPr>
          <p:cNvPr id="7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34" r="10628" b="7654"/>
          <a:stretch/>
        </p:blipFill>
        <p:spPr>
          <a:xfrm>
            <a:off x="1733575" y="-6016"/>
            <a:ext cx="10465859" cy="6858000"/>
          </a:xfrm>
          <a:prstGeom prst="rect">
            <a:avLst/>
          </a:prstGeom>
        </p:spPr>
      </p:pic>
      <p:sp>
        <p:nvSpPr>
          <p:cNvPr id="22" name="Titel 2"/>
          <p:cNvSpPr>
            <a:spLocks noGrp="1"/>
          </p:cNvSpPr>
          <p:nvPr>
            <p:ph type="ctrTitle" hasCustomPrompt="1"/>
          </p:nvPr>
        </p:nvSpPr>
        <p:spPr>
          <a:xfrm>
            <a:off x="0" y="691815"/>
            <a:ext cx="5959476" cy="5474035"/>
          </a:xfrm>
          <a:blipFill>
            <a:blip r:embed="rId3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ct val="900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da-DK" dirty="0"/>
              <a:t>master</a:t>
            </a:r>
          </a:p>
        </p:txBody>
      </p:sp>
      <p:sp>
        <p:nvSpPr>
          <p:cNvPr id="12" name="Titel 1"/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37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4" y="3007285"/>
            <a:ext cx="4946648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38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53600"/>
            <a:ext cx="4946649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 hidden="1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3EC545E-1E39-4013-A907-D4C8F3E3A8B4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 hidden="1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 hidden="1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8179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latin typeface="Aptos" panose="020B00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6243638" y="2271092"/>
            <a:ext cx="5948362" cy="3895200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2448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6622258" y="2610941"/>
            <a:ext cx="4962920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 baseline="0"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  <a:latin typeface="Aptos" panose="020B0004020202020204" pitchFamily="34" charset="0"/>
              </a:defRPr>
            </a:lvl1pPr>
          </a:lstStyle>
          <a:p>
            <a:fld id="{6E5195FB-CC23-4662-BC95-6C4057FF490E}" type="datetime1">
              <a:rPr lang="da-DK" smtClean="0"/>
              <a:pPr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  <a:latin typeface="Aptos" panose="020B00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  <a:latin typeface="Aptos" panose="020B0004020202020204" pitchFamily="34" charset="0"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2967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billede stor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lIns="1080000" tIns="360000" rIns="6408000" anchor="ctr" anchorCtr="0"/>
          <a:lstStyle>
            <a:lvl1pPr marL="0" indent="0" algn="r">
              <a:buNone/>
              <a:defRPr sz="2400" b="1" i="0" baseline="0">
                <a:solidFill>
                  <a:schemeClr val="bg1"/>
                </a:solidFill>
                <a:latin typeface="Aptos" panose="020B0004020202020204" pitchFamily="34" charset="0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 </a:t>
            </a:r>
          </a:p>
        </p:txBody>
      </p:sp>
      <p:sp>
        <p:nvSpPr>
          <p:cNvPr id="11" name="Titel 2">
            <a:extLst>
              <a:ext uri="{FF2B5EF4-FFF2-40B4-BE49-F238E27FC236}">
                <a16:creationId xmlns:a16="http://schemas.microsoft.com/office/drawing/2014/main" id="{9210F5A1-BA4C-C241-930B-E24AB0E14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3638" y="691815"/>
            <a:ext cx="5948362" cy="5474035"/>
          </a:xfrm>
          <a:blipFill>
            <a:blip r:embed="rId3"/>
            <a:stretch>
              <a:fillRect/>
            </a:stretch>
          </a:blipFill>
        </p:spPr>
        <p:txBody>
          <a:bodyPr lIns="360000" tIns="468000" rIns="54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7AF680B5-5F7B-7C42-BF08-E9B604FEDF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2257" y="4053600"/>
            <a:ext cx="4979193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="0" i="0" baseline="0"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E8639E81-1331-644F-9855-3A9C253754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22257" y="3007285"/>
            <a:ext cx="4979193" cy="72643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 baseline="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B7A6A120-00EE-3144-9AB3-0695A4240B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22257" y="1020200"/>
            <a:ext cx="4977606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0" i="0" baseline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5D6F800E-E8DB-D1E9-A292-CDCB828E80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50C8D61-CF2F-4293-9A1F-6B0C79C373C6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15" name="Pladsholder til sidefod 4" hidden="1">
            <a:extLst>
              <a:ext uri="{FF2B5EF4-FFF2-40B4-BE49-F238E27FC236}">
                <a16:creationId xmlns:a16="http://schemas.microsoft.com/office/drawing/2014/main" id="{75F96715-1FD5-51ED-7CC1-42E30D082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6" name="Pladsholder til slidenummer 5" hidden="1">
            <a:extLst>
              <a:ext uri="{FF2B5EF4-FFF2-40B4-BE49-F238E27FC236}">
                <a16:creationId xmlns:a16="http://schemas.microsoft.com/office/drawing/2014/main" id="{FF7B57F8-B201-8F25-4597-86F1EE0AF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09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lille vens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a-DK" sz="24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2" name="Titel 2"/>
          <p:cNvSpPr>
            <a:spLocks noGrp="1"/>
          </p:cNvSpPr>
          <p:nvPr>
            <p:ph type="ctrTitle"/>
          </p:nvPr>
        </p:nvSpPr>
        <p:spPr>
          <a:xfrm>
            <a:off x="0" y="2271092"/>
            <a:ext cx="5959476" cy="3895200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2340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9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10941"/>
            <a:ext cx="4946649" cy="1109335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26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3" y="4042705"/>
            <a:ext cx="4983162" cy="899766"/>
          </a:xfrm>
        </p:spPr>
        <p:txBody>
          <a:bodyPr rIns="0">
            <a:noAutofit/>
          </a:bodyPr>
          <a:lstStyle>
            <a:lvl1pPr marL="0" indent="0"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0" name="Pladsholder til dato 3" hidden="1">
            <a:extLst>
              <a:ext uri="{FF2B5EF4-FFF2-40B4-BE49-F238E27FC236}">
                <a16:creationId xmlns:a16="http://schemas.microsoft.com/office/drawing/2014/main" id="{1570F19F-11E9-F8A1-DCD4-0B2BD422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34D99FEB-2FC3-4FA6-9F36-280592A4EBA0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11" name="Pladsholder til sidefod 4" hidden="1">
            <a:extLst>
              <a:ext uri="{FF2B5EF4-FFF2-40B4-BE49-F238E27FC236}">
                <a16:creationId xmlns:a16="http://schemas.microsoft.com/office/drawing/2014/main" id="{B7D930ED-6F01-0E90-6740-D9E50AA5B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2" name="Pladsholder til slidenummer 5" hidden="1">
            <a:extLst>
              <a:ext uri="{FF2B5EF4-FFF2-40B4-BE49-F238E27FC236}">
                <a16:creationId xmlns:a16="http://schemas.microsoft.com/office/drawing/2014/main" id="{ADD5A7A0-1930-6FDD-F270-B46368D36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780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billede stor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75000"/>
            </a:schemeClr>
          </a:solidFill>
        </p:spPr>
        <p:txBody>
          <a:bodyPr lIns="6408000" tIns="360000" rIns="720000" anchor="ctr" anchorCtr="0"/>
          <a:lstStyle>
            <a:lvl1pPr marL="0" indent="0" algn="l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 Klik på ikonet, hvis du vil indsætte et billede</a:t>
            </a:r>
          </a:p>
        </p:txBody>
      </p:sp>
      <p:sp>
        <p:nvSpPr>
          <p:cNvPr id="2" name="Titel 2"/>
          <p:cNvSpPr>
            <a:spLocks noGrp="1"/>
          </p:cNvSpPr>
          <p:nvPr>
            <p:ph type="ctrTitle"/>
          </p:nvPr>
        </p:nvSpPr>
        <p:spPr>
          <a:xfrm>
            <a:off x="0" y="691815"/>
            <a:ext cx="5959476" cy="5474035"/>
          </a:xfrm>
          <a:blipFill>
            <a:blip r:embed="rId2"/>
            <a:stretch>
              <a:fillRect/>
            </a:stretch>
          </a:blipFill>
        </p:spPr>
        <p:txBody>
          <a:bodyPr lIns="540000" tIns="468000" rIns="360000" bIns="3384000" anchor="b" anchorCtr="0">
            <a:noAutofit/>
          </a:bodyPr>
          <a:lstStyle>
            <a:lvl1pPr algn="l">
              <a:lnSpc>
                <a:spcPts val="4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2" name="Titel 1"/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1020200"/>
            <a:ext cx="4946649" cy="1345417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titel</a:t>
            </a:r>
          </a:p>
        </p:txBody>
      </p:sp>
      <p:sp>
        <p:nvSpPr>
          <p:cNvPr id="9" name="Undertitel 2"/>
          <p:cNvSpPr>
            <a:spLocks noGrp="1"/>
          </p:cNvSpPr>
          <p:nvPr>
            <p:ph type="subTitle" idx="1" hasCustomPrompt="1"/>
          </p:nvPr>
        </p:nvSpPr>
        <p:spPr>
          <a:xfrm>
            <a:off x="588962" y="3007285"/>
            <a:ext cx="4946649" cy="726435"/>
          </a:xfrm>
        </p:spPr>
        <p:txBody>
          <a:bodyPr rIns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Klik for at tilføje undertitel</a:t>
            </a:r>
          </a:p>
        </p:txBody>
      </p:sp>
      <p:sp>
        <p:nvSpPr>
          <p:cNvPr id="11" name="Pladsholder til tekst 14"/>
          <p:cNvSpPr>
            <a:spLocks noGrp="1"/>
          </p:cNvSpPr>
          <p:nvPr>
            <p:ph type="body" sz="quarter" idx="13" hasCustomPrompt="1"/>
          </p:nvPr>
        </p:nvSpPr>
        <p:spPr>
          <a:xfrm>
            <a:off x="588962" y="4053600"/>
            <a:ext cx="4946650" cy="899766"/>
          </a:xfrm>
        </p:spPr>
        <p:txBody>
          <a:bodyPr r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da-DK" dirty="0"/>
              <a:t>Navn på oplægsholder, KU-enhed, sted og dato</a:t>
            </a:r>
          </a:p>
        </p:txBody>
      </p:sp>
      <p:sp>
        <p:nvSpPr>
          <p:cNvPr id="13" name="Pladsholder til dato 3" hidden="1">
            <a:extLst>
              <a:ext uri="{FF2B5EF4-FFF2-40B4-BE49-F238E27FC236}">
                <a16:creationId xmlns:a16="http://schemas.microsoft.com/office/drawing/2014/main" id="{B280A661-856C-E622-1331-CDB60AB08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A255E55A-4CBD-4745-9CAA-603B15E40F2A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14" name="Pladsholder til sidefod 4" hidden="1">
            <a:extLst>
              <a:ext uri="{FF2B5EF4-FFF2-40B4-BE49-F238E27FC236}">
                <a16:creationId xmlns:a16="http://schemas.microsoft.com/office/drawing/2014/main" id="{82F7776B-57AF-971B-A75B-223AFE26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15" name="Pladsholder til slidenummer 5" hidden="1">
            <a:extLst>
              <a:ext uri="{FF2B5EF4-FFF2-40B4-BE49-F238E27FC236}">
                <a16:creationId xmlns:a16="http://schemas.microsoft.com/office/drawing/2014/main" id="{EFF41101-1901-1836-D8DB-6C08E169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908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b="0" i="0" baseline="0">
                <a:latin typeface="Aptos" panose="020B0004020202020204" pitchFamily="34" charset="0"/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>
                <a:latin typeface="Aptos" panose="020B0004020202020204" pitchFamily="34" charset="0"/>
              </a:defRPr>
            </a:lvl1pPr>
            <a:lvl2pPr>
              <a:defRPr lang="da-DK" b="0" i="0" baseline="0" dirty="0" smtClean="0">
                <a:latin typeface="Aptos" panose="020B0004020202020204" pitchFamily="34" charset="0"/>
              </a:defRPr>
            </a:lvl2pPr>
            <a:lvl3pPr>
              <a:defRPr lang="da-DK" b="0" i="0" baseline="0" dirty="0" smtClean="0">
                <a:latin typeface="Aptos" panose="020B0004020202020204" pitchFamily="34" charset="0"/>
              </a:defRPr>
            </a:lvl3pPr>
            <a:lvl4pPr marL="719138" indent="0">
              <a:buNone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A40A2488-620E-4717-952D-4163044243D3}" type="datetime1">
              <a:rPr lang="da-DK" smtClean="0"/>
              <a:pPr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96859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og to indholdsobjek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865186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b="0" i="0" baseline="0" dirty="0" smtClean="0"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 hasCustomPrompt="1"/>
          </p:nvPr>
        </p:nvSpPr>
        <p:spPr>
          <a:xfrm>
            <a:off x="6246000" y="1628776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 marL="719138" indent="0">
              <a:buNone/>
              <a:defRPr lang="da-DK" dirty="0" smtClean="0"/>
            </a:lvl4pPr>
            <a:lvl5pPr>
              <a:defRPr lang="da-DK" dirty="0"/>
            </a:lvl5pPr>
            <a:lvl8pPr marL="719138" indent="0">
              <a:buNone/>
              <a:defRPr/>
            </a:lvl8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94B7A-445E-4B32-AE33-AE6AFA618291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54967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6244651" y="1628775"/>
            <a:ext cx="5356800" cy="4672800"/>
          </a:xfrm>
          <a:solidFill>
            <a:schemeClr val="bg1">
              <a:lumMod val="75000"/>
            </a:schemeClr>
          </a:solidFill>
        </p:spPr>
        <p:txBody>
          <a:bodyPr lIns="360000" tIns="1080000" rIns="360000" anchor="ctr" anchorCtr="0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0" i="0" baseline="0"/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1628775"/>
            <a:ext cx="5356800" cy="4672800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>
              <a:defRPr lang="da-DK" b="0" i="0" baseline="0" dirty="0" smtClean="0"/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1B346-6D22-4E2E-9D8A-0DE526CBF6C5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17783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588963" y="1628775"/>
            <a:ext cx="11012487" cy="4673600"/>
          </a:xfrm>
          <a:solidFill>
            <a:schemeClr val="bg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2"/>
            <a:ext cx="11012486" cy="865187"/>
          </a:xfrm>
        </p:spPr>
        <p:txBody>
          <a:bodyPr/>
          <a:lstStyle/>
          <a:p>
            <a:r>
              <a:rPr lang="da-DK" dirty="0"/>
              <a:t>Klik for at tilføje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DCA84-DC5F-4F54-86C4-3A3F71268220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191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/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F1A1-6766-441F-9F00-E93D521E50F3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093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4256D-1A02-4FDD-AA38-4D8490006FD4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31545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dato 3" hidden="1">
            <a:extLst>
              <a:ext uri="{FF2B5EF4-FFF2-40B4-BE49-F238E27FC236}">
                <a16:creationId xmlns:a16="http://schemas.microsoft.com/office/drawing/2014/main" id="{619D26E9-5B2E-9EAD-7ADF-91C2F6F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60A4E1C7-F811-4F51-BDA9-17EBB9618420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4" name="Pladsholder til sidefod 4" hidden="1">
            <a:extLst>
              <a:ext uri="{FF2B5EF4-FFF2-40B4-BE49-F238E27FC236}">
                <a16:creationId xmlns:a16="http://schemas.microsoft.com/office/drawing/2014/main" id="{8A951072-2ED2-FF27-14A1-979FCDF1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5" name="Pladsholder til slidenummer 5" hidden="1">
            <a:extLst>
              <a:ext uri="{FF2B5EF4-FFF2-40B4-BE49-F238E27FC236}">
                <a16:creationId xmlns:a16="http://schemas.microsoft.com/office/drawing/2014/main" id="{E8D58753-B44C-E044-E735-98262605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67575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bulletlis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4" y="620714"/>
            <a:ext cx="11012486" cy="1008062"/>
          </a:xfrm>
        </p:spPr>
        <p:txBody>
          <a:bodyPr tIns="154800"/>
          <a:lstStyle>
            <a:lvl1pPr>
              <a:defRPr sz="66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tilføj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88964" y="2239315"/>
            <a:ext cx="5356800" cy="4063060"/>
          </a:xfrm>
        </p:spPr>
        <p:txBody>
          <a:bodyPr vert="horz" lIns="0" tIns="0" rIns="0" bIns="0" rtlCol="0">
            <a:noAutofit/>
          </a:bodyPr>
          <a:lstStyle>
            <a:lvl1pPr marL="363600" marR="0" indent="-363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b="0" i="0" baseline="0" dirty="0" smtClean="0">
                <a:solidFill>
                  <a:schemeClr val="tx1"/>
                </a:solidFill>
              </a:defRPr>
            </a:lvl4pPr>
            <a:lvl5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5pPr>
            <a:lvl6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6pPr>
            <a:lvl7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7pPr>
            <a:lvl8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8pPr>
            <a:lvl9pPr marL="1072800" indent="-352800">
              <a:lnSpc>
                <a:spcPct val="90000"/>
              </a:lnSpc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2</a:t>
            </a:r>
          </a:p>
          <a:p>
            <a:pPr lvl="2"/>
            <a:r>
              <a:rPr lang="da-DK" dirty="0"/>
              <a:t>3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4" name="Pladsholder til indhold 3">
            <a:extLst>
              <a:ext uri="{FF2B5EF4-FFF2-40B4-BE49-F238E27FC236}">
                <a16:creationId xmlns:a16="http://schemas.microsoft.com/office/drawing/2014/main" id="{D13A21B6-F7F5-D15B-402D-6C21868F87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6000" y="2239315"/>
            <a:ext cx="5356800" cy="4063061"/>
          </a:xfrm>
        </p:spPr>
        <p:txBody>
          <a:bodyPr vert="horz" lIns="0" tIns="0" rIns="0" bIns="0" rtlCol="0">
            <a:noAutofit/>
          </a:bodyPr>
          <a:lstStyle>
            <a:lvl1pPr>
              <a:defRPr lang="da-DK" b="0" i="0" baseline="0" dirty="0" smtClean="0"/>
            </a:lvl1pPr>
            <a:lvl2pPr>
              <a:defRPr lang="da-DK" b="0" i="0" baseline="0" dirty="0" smtClean="0"/>
            </a:lvl2pPr>
            <a:lvl3pPr marL="1072800" indent="-352800">
              <a:lnSpc>
                <a:spcPct val="90000"/>
              </a:lnSpc>
              <a:defRPr lang="da-DK" b="0" i="0" baseline="0" dirty="0" smtClean="0"/>
            </a:lvl3pPr>
            <a:lvl4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 lang="da-DK" dirty="0" smtClean="0"/>
            </a:lvl4pPr>
            <a:lvl5pPr marL="1072800" indent="-352800">
              <a:lnSpc>
                <a:spcPct val="90000"/>
              </a:lnSpc>
              <a:defRPr lang="da-DK" dirty="0"/>
            </a:lvl5pPr>
            <a:lvl6pPr marL="1072800" indent="-352800">
              <a:lnSpc>
                <a:spcPct val="90000"/>
              </a:lnSpc>
              <a:defRPr/>
            </a:lvl6pPr>
            <a:lvl7pPr marL="1072800" indent="-352800">
              <a:lnSpc>
                <a:spcPct val="90000"/>
              </a:lnSpc>
              <a:defRPr/>
            </a:lvl7pPr>
            <a:lvl8pPr marL="1072800" indent="-352800">
              <a:lnSpc>
                <a:spcPct val="90000"/>
              </a:lnSpc>
              <a:buFont typeface="Arial" panose="020B0604020202020204" pitchFamily="34" charset="0"/>
              <a:buChar char="•"/>
              <a:defRPr/>
            </a:lvl8pPr>
            <a:lvl9pPr marL="1072800" indent="-352800">
              <a:lnSpc>
                <a:spcPct val="90000"/>
              </a:lnSpc>
              <a:defRPr/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8259-92F1-4C32-A312-C73CE2167131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9C41-6576-A494-B4DF-8A34076DB9A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38169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934" userDrawn="1">
          <p15:clr>
            <a:srgbClr val="F26B43"/>
          </p15:clr>
        </p15:guide>
        <p15:guide id="2" pos="3746" userDrawn="1">
          <p15:clr>
            <a:srgbClr val="F26B43"/>
          </p15:clr>
        </p15:guide>
        <p15:guide id="3" orient="horz" pos="1410" userDrawn="1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én bullet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620714"/>
            <a:ext cx="11012488" cy="863599"/>
          </a:xfrm>
        </p:spPr>
        <p:txBody>
          <a:bodyPr/>
          <a:lstStyle>
            <a:lvl1pPr>
              <a:defRPr sz="3200" b="1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3"/>
          <p:cNvSpPr>
            <a:spLocks noGrp="1"/>
          </p:cNvSpPr>
          <p:nvPr>
            <p:ph idx="1" hasCustomPrompt="1"/>
          </p:nvPr>
        </p:nvSpPr>
        <p:spPr>
          <a:xfrm>
            <a:off x="588963" y="1628775"/>
            <a:ext cx="11012488" cy="4673600"/>
          </a:xfrm>
        </p:spPr>
        <p:txBody>
          <a:bodyPr vert="horz" lIns="0" tIns="0" rIns="0" bIns="0" rtlCol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lang="da-DK" sz="3200" b="0" i="0" baseline="0" dirty="0" smtClean="0">
                <a:solidFill>
                  <a:schemeClr val="tx1"/>
                </a:solidFill>
              </a:defRPr>
            </a:lvl1pPr>
            <a:lvl2pPr>
              <a:defRPr lang="da-DK" b="0" i="0" baseline="0" dirty="0" smtClean="0">
                <a:solidFill>
                  <a:schemeClr val="tx1"/>
                </a:solidFill>
              </a:defRPr>
            </a:lvl2pPr>
            <a:lvl3pPr>
              <a:defRPr lang="da-DK" b="0" i="0" baseline="0" dirty="0" smtClean="0">
                <a:solidFill>
                  <a:schemeClr val="tx1"/>
                </a:solidFill>
              </a:defRPr>
            </a:lvl3pPr>
            <a:lvl4pPr marL="1072800" indent="-3528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5082-3ECA-430B-8AFE-6C0254841555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1174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felt 8">
            <a:extLst>
              <a:ext uri="{FF2B5EF4-FFF2-40B4-BE49-F238E27FC236}">
                <a16:creationId xmlns:a16="http://schemas.microsoft.com/office/drawing/2014/main" id="{3E866D85-79EE-184D-80E1-3ED545621736}"/>
              </a:ext>
            </a:extLst>
          </p:cNvPr>
          <p:cNvSpPr txBox="1"/>
          <p:nvPr userDrawn="1"/>
        </p:nvSpPr>
        <p:spPr>
          <a:xfrm>
            <a:off x="421280" y="612884"/>
            <a:ext cx="1167618" cy="8714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da-DK" sz="15000" b="1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1B53F7DA-513D-4E4A-A901-E83A56F29A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963" y="1628775"/>
            <a:ext cx="11012487" cy="4114799"/>
          </a:xfrm>
          <a:noFill/>
        </p:spPr>
        <p:txBody>
          <a:bodyPr lIns="0" tIns="0" rIns="0" b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da-DK" sz="48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da-DK" dirty="0"/>
              <a:t>Klik for at tilføje tekst</a:t>
            </a:r>
          </a:p>
        </p:txBody>
      </p:sp>
      <p:sp>
        <p:nvSpPr>
          <p:cNvPr id="12" name="Pladsholder til tekst 14">
            <a:extLst>
              <a:ext uri="{FF2B5EF4-FFF2-40B4-BE49-F238E27FC236}">
                <a16:creationId xmlns:a16="http://schemas.microsoft.com/office/drawing/2014/main" id="{E095D626-8544-1B49-AD85-894AF40118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400" y="5934971"/>
            <a:ext cx="11012400" cy="367404"/>
          </a:xfrm>
        </p:spPr>
        <p:txBody>
          <a:bodyPr anchor="b" anchorCtr="0">
            <a:noAutofit/>
          </a:bodyPr>
          <a:lstStyle>
            <a:lvl1pPr marL="0" indent="0">
              <a:spcBef>
                <a:spcPts val="500"/>
              </a:spcBef>
              <a:buNone/>
              <a:defRPr sz="24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Navn, kilde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2271-5E3D-4E06-BC0A-7C1022408CCC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09868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06056-13C4-B341-9D8B-68EA383036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527812"/>
            <a:ext cx="12192000" cy="955506"/>
          </a:xfrm>
          <a:noFill/>
        </p:spPr>
        <p:txBody>
          <a:bodyPr anchor="b" anchorCtr="0"/>
          <a:lstStyle>
            <a:lvl1pPr marL="0" indent="0" algn="ctr">
              <a:buFontTx/>
              <a:buNone/>
              <a:defRPr sz="6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FA67884-B97F-CB46-AABC-75F5273BB9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3559852"/>
            <a:ext cx="12192000" cy="955506"/>
          </a:xfrm>
          <a:noFill/>
        </p:spPr>
        <p:txBody>
          <a:bodyPr/>
          <a:lstStyle>
            <a:lvl1pPr marL="0" indent="0" algn="ctr">
              <a:buFontTx/>
              <a:buNone/>
              <a:defRPr sz="66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indsætte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93FE-D5FA-4E0E-8FFF-8F10D57A1EC1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85453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DF7CB8-A29D-FD7D-E01C-9FA290029336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593043" y="992701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spcBef>
                <a:spcPts val="0"/>
              </a:spcBef>
              <a:buNone/>
              <a:defRPr sz="6000" b="1"/>
            </a:lvl1pPr>
          </a:lstStyle>
          <a:p>
            <a:pPr lvl="0"/>
            <a:r>
              <a:rPr lang="da-DK" dirty="0"/>
              <a:t>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999F43-7DCD-0386-4C37-C66F637D75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309" y="992701"/>
            <a:ext cx="3590534" cy="1162800"/>
          </a:xfrm>
        </p:spPr>
        <p:txBody>
          <a:bodyPr anchor="ctr" anchorCtr="0"/>
          <a:lstStyle>
            <a:lvl1pPr marL="0" indent="0">
              <a:spcBef>
                <a:spcPts val="0"/>
              </a:spcBef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A0FE321-409A-CB41-0D2F-3A239A66393D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6092802" y="91122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da-DK" dirty="0"/>
              <a:t>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85D9037-4808-3FB4-8291-164C228C83E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38265" y="911224"/>
            <a:ext cx="370582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4F98610-1AA8-ED76-CB97-422A1761A39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72868" y="240982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4C99C31-A019-EB05-99AD-9B5C4892C3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20656" y="2409825"/>
            <a:ext cx="3113087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buNone/>
              <a:defRPr sz="2800" b="1"/>
            </a:lvl2pPr>
            <a:lvl3pPr marL="0" indent="0">
              <a:buNone/>
              <a:defRPr sz="2800" b="1"/>
            </a:lvl3pPr>
            <a:lvl4pPr marL="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A112A83-1D6E-E31B-3869-56E056FE8E0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8200" y="2970213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4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5507CD6-BB87-26DA-1CB3-C86DBC2ACD1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5988" y="2970213"/>
            <a:ext cx="3065462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EED4611-1BCD-13B0-4F45-DAEAB35290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58913" y="4498975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5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B6A4E6-E617-BAD1-0112-A9675423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14435" y="4498975"/>
            <a:ext cx="293866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135649F-22C1-794A-F31C-7DC6EA04B2E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72225" y="5138044"/>
            <a:ext cx="1162800" cy="1162800"/>
          </a:xfrm>
          <a:prstGeom prst="ellipse">
            <a:avLst/>
          </a:prstGeom>
          <a:solidFill>
            <a:schemeClr val="tx1">
              <a:alpha val="20000"/>
            </a:schemeClr>
          </a:solidFill>
        </p:spPr>
        <p:txBody>
          <a:bodyPr tIns="72000" anchor="ctr" anchorCtr="0"/>
          <a:lstStyle>
            <a:lvl1pPr marL="0" indent="0" algn="ctr">
              <a:buNone/>
              <a:defRPr sz="6000" b="1"/>
            </a:lvl1pPr>
            <a:lvl2pPr marL="360363" indent="0" algn="ctr">
              <a:buNone/>
              <a:defRPr sz="2800" b="1"/>
            </a:lvl2pPr>
            <a:lvl3pPr marL="720000" indent="0" algn="ctr">
              <a:buNone/>
              <a:defRPr sz="2800" b="1"/>
            </a:lvl3pPr>
            <a:lvl4pPr marL="720000" indent="0" algn="ctr">
              <a:buNone/>
              <a:defRPr sz="2800" b="1"/>
            </a:lvl4pPr>
            <a:lvl5pPr marL="720000" indent="0" algn="ctr">
              <a:buNone/>
              <a:defRPr sz="2800" b="1"/>
            </a:lvl5pPr>
          </a:lstStyle>
          <a:p>
            <a:pPr lvl="0"/>
            <a:r>
              <a:rPr lang="da-DK" dirty="0"/>
              <a:t>6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35999C3D-9DB2-8B28-1D0E-EDC2C950F6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20013" y="5138044"/>
            <a:ext cx="3343275" cy="1162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/>
            </a:lvl5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76D0-1C54-4AA2-B3C6-9EDE760637A2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4ADEF-11A6-3C5E-1BA5-4CA81A2F71C9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784342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219F3-EBEC-4665-8131-8E409DE99ADE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6C2CA-F7BC-1643-99E7-A7AF34D16F06}"/>
              </a:ext>
            </a:extLst>
          </p:cNvPr>
          <p:cNvSpPr txBox="1"/>
          <p:nvPr userDrawn="1"/>
        </p:nvSpPr>
        <p:spPr>
          <a:xfrm>
            <a:off x="-1219200" y="-22273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92B83-0AC6-A343-9007-FC3430F06E87}"/>
              </a:ext>
            </a:extLst>
          </p:cNvPr>
          <p:cNvSpPr txBox="1"/>
          <p:nvPr userDrawn="1"/>
        </p:nvSpPr>
        <p:spPr>
          <a:xfrm>
            <a:off x="4531540" y="232241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0ACD76-9286-81DA-B95A-33C567818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3" y="620712"/>
            <a:ext cx="11012488" cy="864859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indsætte tekst...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79DDD350-47B3-3DAF-DDC1-39725F8B959E}"/>
              </a:ext>
            </a:extLst>
          </p:cNvPr>
          <p:cNvSpPr>
            <a:spLocks noGrp="1" noChangeAspect="1"/>
          </p:cNvSpPr>
          <p:nvPr>
            <p:ph type="body" sz="quarter" idx="38" hasCustomPrompt="1"/>
          </p:nvPr>
        </p:nvSpPr>
        <p:spPr>
          <a:xfrm>
            <a:off x="1478044" y="1850705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6F92D26-3C4A-BE86-A701-D767C111FE07}"/>
              </a:ext>
            </a:extLst>
          </p:cNvPr>
          <p:cNvSpPr>
            <a:spLocks noGrp="1" noChangeAspect="1"/>
          </p:cNvSpPr>
          <p:nvPr>
            <p:ph type="body" sz="quarter" idx="39" hasCustomPrompt="1"/>
          </p:nvPr>
        </p:nvSpPr>
        <p:spPr>
          <a:xfrm>
            <a:off x="5358802" y="241670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76900F8-7802-5F50-6A9A-E75ED0B3EC0B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2869616" y="3779962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46C4547-72A6-0EEC-A5AF-48DBCE377E13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7101336" y="4168447"/>
            <a:ext cx="701479" cy="701479"/>
          </a:xfrm>
          <a:prstGeom prst="ellipse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936000" tIns="72000" rIns="0" bIns="0" anchor="ctr" anchorCtr="0"/>
          <a:lstStyle>
            <a:lvl1pPr marL="0" indent="0" algn="l"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Indsæt tekst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0FCDE3-3080-15ED-F757-BF51628B67D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8964" y="5623418"/>
            <a:ext cx="11012486" cy="678958"/>
          </a:xfrm>
        </p:spPr>
        <p:txBody>
          <a:bodyPr anchor="b" anchorCtr="0"/>
          <a:lstStyle>
            <a:lvl1pPr marL="0" indent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800"/>
            </a:lvl5pPr>
            <a:lvl6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6pPr>
            <a:lvl7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7pPr>
            <a:lvl8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8pPr>
            <a:lvl9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800"/>
            </a:lvl9pPr>
          </a:lstStyle>
          <a:p>
            <a:pPr lvl="0"/>
            <a:r>
              <a:rPr lang="da-DK" dirty="0"/>
              <a:t>...klik for at indsætte tekst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65C0B-FFD6-8BEB-537E-1AEDA679D666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tekst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20734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9757" y="842657"/>
            <a:ext cx="11012486" cy="1141268"/>
          </a:xfrm>
        </p:spPr>
        <p:txBody>
          <a:bodyPr/>
          <a:lstStyle>
            <a:lvl1pPr>
              <a:lnSpc>
                <a:spcPct val="90000"/>
              </a:lnSpc>
              <a:defRPr sz="66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overskrift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2B9D2-A192-42E6-9020-F3EAB57A6114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402571">
            <a:off x="985914" y="2449156"/>
            <a:ext cx="4115489" cy="2817262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080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 rot="533356">
            <a:off x="5893725" y="2510306"/>
            <a:ext cx="5462634" cy="3596788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360000" tIns="1080000" rIns="36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F33A7-1D81-AB36-A3BB-FC35AF2B3579}"/>
              </a:ext>
            </a:extLst>
          </p:cNvPr>
          <p:cNvSpPr txBox="1"/>
          <p:nvPr userDrawn="1"/>
        </p:nvSpPr>
        <p:spPr>
          <a:xfrm>
            <a:off x="0" y="-310243"/>
            <a:ext cx="6825343" cy="3102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da-DK" sz="4800" b="1" dirty="0">
              <a:solidFill>
                <a:prstClr val="white"/>
              </a:solidFill>
              <a:latin typeface="Microsoft New Tai L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3D2255-9E79-5D04-C4A9-288BF0CCD6B2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4261065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ille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49CB1-FD99-442F-B632-7502FA9A3C45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8" name="Pladsholder til billede 9">
            <a:extLst>
              <a:ext uri="{FF2B5EF4-FFF2-40B4-BE49-F238E27FC236}">
                <a16:creationId xmlns:a16="http://schemas.microsoft.com/office/drawing/2014/main" id="{EE1B35E0-A5B1-1748-D054-2575D7411CC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9757" y="2890520"/>
            <a:ext cx="3433685" cy="3403600"/>
          </a:xfrm>
          <a:solidFill>
            <a:schemeClr val="bg1">
              <a:lumMod val="6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9" name="Pladsholder til billede 9">
            <a:extLst>
              <a:ext uri="{FF2B5EF4-FFF2-40B4-BE49-F238E27FC236}">
                <a16:creationId xmlns:a16="http://schemas.microsoft.com/office/drawing/2014/main" id="{E815A343-B052-E851-8FDF-17976A3957D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52160" y="612233"/>
            <a:ext cx="5749290" cy="5681887"/>
          </a:xfrm>
          <a:solidFill>
            <a:schemeClr val="bg1">
              <a:lumMod val="7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0" tIns="1080000" rIns="540000" anchor="ctr" anchorCtr="1"/>
          <a:lstStyle>
            <a:lvl1pPr marL="0" indent="0" algn="ctr">
              <a:buNone/>
              <a:defRPr sz="24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10" name="Pladsholder til billede 9">
            <a:extLst>
              <a:ext uri="{FF2B5EF4-FFF2-40B4-BE49-F238E27FC236}">
                <a16:creationId xmlns:a16="http://schemas.microsoft.com/office/drawing/2014/main" id="{43FCB96B-CD6D-B9F3-A688-74E5893485C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855041" y="1961476"/>
            <a:ext cx="2336801" cy="2294929"/>
          </a:xfrm>
          <a:solidFill>
            <a:schemeClr val="bg1">
              <a:lumMod val="85000"/>
            </a:schemeClr>
          </a:solidFill>
          <a:ln w="76200" cap="flat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1188000" rIns="0" anchor="ctr" anchorCtr="1"/>
          <a:lstStyle>
            <a:lvl1pPr marL="0" indent="0" algn="ctr">
              <a:buNone/>
              <a:defRPr sz="180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3C8CB-D006-2AF2-DF37-08254005F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3"/>
            <a:ext cx="4602877" cy="100806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</p:spTree>
    <p:extLst>
      <p:ext uri="{BB962C8B-B14F-4D97-AF65-F5344CB8AC3E}">
        <p14:creationId xmlns:p14="http://schemas.microsoft.com/office/powerpoint/2010/main" val="290571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høj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20891566">
            <a:off x="1018941" y="1976793"/>
            <a:ext cx="3832754" cy="3749640"/>
          </a:xfrm>
          <a:solidFill>
            <a:schemeClr val="tx1">
              <a:lumMod val="65000"/>
            </a:schemeClr>
          </a:solidFill>
          <a:ln w="146050" cap="flat">
            <a:solidFill>
              <a:schemeClr val="tx1"/>
            </a:solidFill>
            <a:miter lim="800000"/>
          </a:ln>
        </p:spPr>
        <p:txBody>
          <a:bodyPr lIns="0" tIns="1224000" rIns="0" anchor="ctr" anchorCtr="1"/>
          <a:lstStyle>
            <a:lvl1pPr marL="0" indent="0" algn="ctr">
              <a:buNone/>
              <a:defRPr sz="240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5783580" y="2097067"/>
            <a:ext cx="5817869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tx1"/>
                </a:solidFill>
              </a:defRPr>
            </a:lvl1pPr>
            <a:lvl2pPr>
              <a:defRPr lang="da-DK" sz="3200" b="1" dirty="0" smtClean="0">
                <a:solidFill>
                  <a:schemeClr val="tx1"/>
                </a:solidFill>
              </a:defRPr>
            </a:lvl2pPr>
            <a:lvl3pPr>
              <a:defRPr lang="da-DK" sz="2400" b="1" dirty="0" smtClean="0">
                <a:solidFill>
                  <a:schemeClr val="tx1"/>
                </a:solidFill>
              </a:defRPr>
            </a:lvl3pPr>
            <a:lvl4pPr>
              <a:defRPr lang="da-DK" b="1" dirty="0" smtClean="0">
                <a:solidFill>
                  <a:schemeClr val="tx1"/>
                </a:solidFill>
              </a:defRPr>
            </a:lvl4pPr>
            <a:lvl5pPr>
              <a:defRPr lang="da-DK" b="1" dirty="0">
                <a:solidFill>
                  <a:schemeClr val="tx1"/>
                </a:solidFill>
              </a:defRPr>
            </a:lvl5pPr>
            <a:lvl6pPr>
              <a:defRPr b="1">
                <a:solidFill>
                  <a:schemeClr val="tx1"/>
                </a:solidFill>
              </a:defRPr>
            </a:lvl6pPr>
            <a:lvl7pPr>
              <a:defRPr b="1">
                <a:solidFill>
                  <a:schemeClr val="tx1"/>
                </a:solidFill>
              </a:defRPr>
            </a:lvl7pPr>
            <a:lvl8pPr>
              <a:defRPr b="1">
                <a:solidFill>
                  <a:schemeClr val="tx1"/>
                </a:solidFill>
              </a:defRPr>
            </a:lvl8pPr>
            <a:lvl9pPr>
              <a:defRPr b="1">
                <a:solidFill>
                  <a:schemeClr val="tx1"/>
                </a:solidFill>
              </a:defRPr>
            </a:lvl9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56D48-5B3F-4C59-A9D8-68D0A39D6CD2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0968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billede med tekst vens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 rot="496878">
            <a:off x="6504534" y="1615672"/>
            <a:ext cx="4653097" cy="4640373"/>
          </a:xfrm>
          <a:solidFill>
            <a:schemeClr val="bg1">
              <a:lumMod val="65000"/>
            </a:schemeClr>
          </a:solidFill>
          <a:ln w="146050" cap="flat">
            <a:solidFill>
              <a:schemeClr val="bg1"/>
            </a:solidFill>
            <a:miter lim="800000"/>
          </a:ln>
        </p:spPr>
        <p:txBody>
          <a:bodyPr lIns="0" tIns="1188000" rIns="0" anchor="ctr" anchorCtr="1"/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5CAA0-42C1-41A7-86CE-BA2D8D2C2EF0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4AE573B-1000-D841-B8B4-F927523899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65" y="620712"/>
            <a:ext cx="11012486" cy="86518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Klik for at tilføje overskrift</a:t>
            </a:r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691B69-65AA-9748-80BF-996C89344BB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8963" y="2097067"/>
            <a:ext cx="5818682" cy="4205308"/>
          </a:xfrm>
        </p:spPr>
        <p:txBody>
          <a:bodyPr vert="horz" lIns="0" tIns="0" rIns="0" bIns="0" rtlCol="0">
            <a:noAutofit/>
          </a:bodyPr>
          <a:lstStyle>
            <a:lvl1pPr>
              <a:defRPr lang="da-DK" sz="3600" b="1" dirty="0" smtClean="0">
                <a:solidFill>
                  <a:schemeClr val="bg1"/>
                </a:solidFill>
              </a:defRPr>
            </a:lvl1pPr>
            <a:lvl2pPr>
              <a:defRPr lang="da-DK" sz="3200" b="1" dirty="0" smtClean="0">
                <a:solidFill>
                  <a:schemeClr val="bg1"/>
                </a:solidFill>
              </a:defRPr>
            </a:lvl2pPr>
            <a:lvl3pPr>
              <a:defRPr lang="da-DK" sz="2400" b="1" dirty="0" smtClean="0">
                <a:solidFill>
                  <a:schemeClr val="bg1"/>
                </a:solidFill>
              </a:defRPr>
            </a:lvl3pPr>
            <a:lvl4pPr>
              <a:defRPr lang="da-DK" dirty="0" smtClean="0"/>
            </a:lvl4pPr>
            <a:lvl5pPr>
              <a:defRPr lang="da-DK" dirty="0"/>
            </a:lvl5pPr>
          </a:lstStyle>
          <a:p>
            <a:pPr lvl="0"/>
            <a:r>
              <a:rPr lang="da-DK" dirty="0"/>
              <a:t>Klik for at indsætte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144106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5" y="756000"/>
            <a:ext cx="6822000" cy="1804492"/>
          </a:xfrm>
          <a:solidFill>
            <a:schemeClr val="accent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spcAft>
                <a:spcPts val="600"/>
              </a:spcAft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B073E-A784-466B-98E2-8BDE3F08A73A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277BB-5254-1D84-EA0B-F5AF633F0933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317485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1" y="4962214"/>
            <a:ext cx="4173870" cy="1340161"/>
          </a:xfrm>
          <a:solidFill>
            <a:schemeClr val="accent4">
              <a:alpha val="99950"/>
            </a:schemeClr>
          </a:solidFill>
        </p:spPr>
        <p:txBody>
          <a:bodyPr wrap="square" lIns="252000" tIns="108000" rIns="252000" bIns="0" anchor="t" anchorCtr="0">
            <a:spAutoFit/>
          </a:bodyPr>
          <a:lstStyle>
            <a:lvl1pPr>
              <a:defRPr sz="40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92E9-ED6E-4E2D-9447-0E7DB3FDA12F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EDB20F-CD30-3447-301A-903E5BC5BED1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200445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79450" y="4497883"/>
            <a:ext cx="6822000" cy="1804492"/>
          </a:xfrm>
          <a:solidFill>
            <a:schemeClr val="bg1">
              <a:alpha val="99950"/>
            </a:schemeClr>
          </a:solidFill>
        </p:spPr>
        <p:txBody>
          <a:bodyPr wrap="square" lIns="252000" tIns="216000" rIns="252000" bIns="108000">
            <a:spAutoFit/>
          </a:bodyPr>
          <a:lstStyle>
            <a:lvl1pPr>
              <a:defRPr sz="48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D7C1D-A477-4C13-845F-4C5AC4DEDF20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5C28F-4EA0-040C-C6B4-A14FC010CCCE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2021185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1080000" rIns="0" anchor="ctr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1017402"/>
            <a:ext cx="11012487" cy="917513"/>
          </a:xfrm>
          <a:solidFill>
            <a:schemeClr val="accent2">
              <a:alpha val="99950"/>
            </a:schemeClr>
          </a:solidFill>
        </p:spPr>
        <p:txBody>
          <a:bodyPr wrap="square" lIns="180000" tIns="180000" rIns="180000" bIns="180000">
            <a:spAutoFit/>
          </a:bodyPr>
          <a:lstStyle>
            <a:lvl1pPr>
              <a:defRPr sz="3600" b="1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B22DB-13B5-430F-8C6F-F11F20BF0D18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58AF7-9740-8AD8-0C21-42A01D828328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171716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billede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dsholder til billede 9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31200"/>
            <a:ext cx="12191999" cy="6526800"/>
          </a:xfrm>
          <a:solidFill>
            <a:schemeClr val="tx1">
              <a:lumMod val="75000"/>
            </a:schemeClr>
          </a:solidFill>
        </p:spPr>
        <p:txBody>
          <a:bodyPr lIns="0" tIns="2628000" rIns="0" anchor="t" anchorCtr="0"/>
          <a:lstStyle>
            <a:lvl1pPr marL="0" indent="0" algn="ctr">
              <a:buNone/>
              <a:defRPr sz="2400" b="0" i="0" baseline="0">
                <a:solidFill>
                  <a:schemeClr val="tx1"/>
                </a:solidFill>
                <a:sym typeface="Wingdings" panose="05000000000000000000" pitchFamily="2" charset="2"/>
              </a:defRPr>
            </a:lvl1pPr>
          </a:lstStyle>
          <a:p>
            <a:r>
              <a:rPr lang="da-DK" dirty="0"/>
              <a:t>Klik på ikonet, hvis du vil indsætte et billede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88963" y="4161995"/>
            <a:ext cx="11012487" cy="2140380"/>
          </a:xfrm>
          <a:solidFill>
            <a:schemeClr val="bg1">
              <a:alpha val="46000"/>
            </a:schemeClr>
          </a:solidFill>
        </p:spPr>
        <p:txBody>
          <a:bodyPr wrap="square" lIns="252000" tIns="108000" rIns="252000" bIns="0">
            <a:spAutoFit/>
          </a:bodyPr>
          <a:lstStyle>
            <a:lvl1pPr algn="ctr">
              <a:defRPr sz="66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DEF25-ACCC-4F90-BF7A-77B4DDE7678A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727BB-AC18-C435-CD32-52483CA4B110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bg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bg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bg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573279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ørgsmål &amp; kommentar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8B2A5-1DCC-48EA-93B7-A2D65B200BE6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7" name="?">
            <a:extLst>
              <a:ext uri="{FF2B5EF4-FFF2-40B4-BE49-F238E27FC236}">
                <a16:creationId xmlns:a16="http://schemas.microsoft.com/office/drawing/2014/main" id="{C9382B17-B390-C8C0-F5F8-7665434C718C}"/>
              </a:ext>
            </a:extLst>
          </p:cNvPr>
          <p:cNvSpPr/>
          <p:nvPr userDrawn="1"/>
        </p:nvSpPr>
        <p:spPr>
          <a:xfrm>
            <a:off x="3642413" y="900524"/>
            <a:ext cx="4787900" cy="5558804"/>
          </a:xfrm>
          <a:prstGeom prst="rect">
            <a:avLst/>
          </a:prstGeom>
        </p:spPr>
        <p:txBody>
          <a:bodyPr wrap="square" rtlCol="0" anchor="t" anchorCtr="0">
            <a:noAutofit/>
          </a:bodyPr>
          <a:lstStyle/>
          <a:p>
            <a:pPr algn="ctr">
              <a:lnSpc>
                <a:spcPct val="83000"/>
              </a:lnSpc>
            </a:pPr>
            <a:r>
              <a:rPr lang="da-DK" sz="59500" b="1" dirty="0">
                <a:solidFill>
                  <a:schemeClr val="tx1">
                    <a:alpha val="14559"/>
                  </a:schemeClr>
                </a:solidFill>
              </a:rPr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0714F6-6F11-9826-9767-37567B1EC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39732" y="1628776"/>
            <a:ext cx="9461718" cy="3999626"/>
          </a:xfrm>
        </p:spPr>
        <p:txBody>
          <a:bodyPr anchor="ctr" anchorCtr="0"/>
          <a:lstStyle>
            <a:lvl1pPr>
              <a:lnSpc>
                <a:spcPct val="83000"/>
              </a:lnSpc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tekst...</a:t>
            </a:r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t>‹#›</a:t>
            </a:fld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61DB2-11FB-99E1-B80B-1463133B9A24}"/>
              </a:ext>
            </a:extLst>
          </p:cNvPr>
          <p:cNvSpPr txBox="1"/>
          <p:nvPr userDrawn="1"/>
        </p:nvSpPr>
        <p:spPr>
          <a:xfrm>
            <a:off x="588964" y="-375558"/>
            <a:ext cx="11012486" cy="3063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Fremhæv ord </a:t>
            </a:r>
            <a:r>
              <a:rPr lang="da-DK" sz="1400" b="0" dirty="0">
                <a:solidFill>
                  <a:schemeClr val="tx1"/>
                </a:solidFill>
                <a:latin typeface="Microsoft New Tai Lue"/>
              </a:rPr>
              <a:t>i overskrift ved at bruge </a:t>
            </a:r>
            <a:r>
              <a:rPr lang="da-DK" sz="1400" b="1" dirty="0">
                <a:solidFill>
                  <a:schemeClr val="tx1"/>
                </a:solidFill>
                <a:latin typeface="Microsoft New Tai Lue"/>
              </a:rPr>
              <a:t>fed skrift</a:t>
            </a:r>
            <a:endParaRPr lang="da-DK" sz="1400" b="0" dirty="0">
              <a:solidFill>
                <a:schemeClr val="tx1"/>
              </a:solidFill>
              <a:latin typeface="Microsoft New Tai Lue"/>
            </a:endParaRPr>
          </a:p>
        </p:txBody>
      </p:sp>
    </p:spTree>
    <p:extLst>
      <p:ext uri="{BB962C8B-B14F-4D97-AF65-F5344CB8AC3E}">
        <p14:creationId xmlns:p14="http://schemas.microsoft.com/office/powerpoint/2010/main" val="3027284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 userDrawn="1"/>
        </p:nvSpPr>
        <p:spPr>
          <a:xfrm>
            <a:off x="588964" y="613649"/>
            <a:ext cx="11012486" cy="8799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 sz="3000" dirty="0">
                <a:solidFill>
                  <a:schemeClr val="tx1"/>
                </a:solidFill>
              </a:rPr>
              <a:t>Brugerguide</a:t>
            </a:r>
            <a:r>
              <a:rPr lang="da-DK" baseline="0" dirty="0">
                <a:solidFill>
                  <a:schemeClr val="tx1"/>
                </a:solidFill>
              </a:rPr>
              <a:t> </a:t>
            </a:r>
            <a:r>
              <a:rPr lang="da-DK" sz="1800" baseline="0" dirty="0">
                <a:solidFill>
                  <a:schemeClr val="tx1"/>
                </a:solidFill>
              </a:rPr>
              <a:t>– </a:t>
            </a:r>
            <a:r>
              <a:rPr lang="da-DK" sz="1800" dirty="0">
                <a:solidFill>
                  <a:schemeClr val="tx1"/>
                </a:solidFill>
              </a:rPr>
              <a:t>Slet, før du færdiggør din</a:t>
            </a:r>
            <a:r>
              <a:rPr lang="da-DK" sz="1800" baseline="0" dirty="0">
                <a:solidFill>
                  <a:schemeClr val="tx1"/>
                </a:solidFill>
              </a:rPr>
              <a:t> </a:t>
            </a:r>
            <a:r>
              <a:rPr lang="da-DK" sz="1800" dirty="0">
                <a:solidFill>
                  <a:schemeClr val="tx1"/>
                </a:solidFill>
              </a:rPr>
              <a:t>præsentation</a:t>
            </a:r>
          </a:p>
        </p:txBody>
      </p:sp>
      <p:sp>
        <p:nvSpPr>
          <p:cNvPr id="48" name="Text Box 48"/>
          <p:cNvSpPr txBox="1">
            <a:spLocks noChangeArrowheads="1"/>
          </p:cNvSpPr>
          <p:nvPr userDrawn="1"/>
        </p:nvSpPr>
        <p:spPr bwMode="auto">
          <a:xfrm>
            <a:off x="587376" y="1640495"/>
            <a:ext cx="1750290" cy="3842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KU-skabeloner til PowerPoint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åbner PowerPoint på din KU-pc, åbner en skabelon i 16:9-format og med dansk KU-logo.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Når du klikker på KU-fanen i værktøjslinjen, kan du via knappen ”Vælg Skabelon” vælge mellem skabeloner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på henholdsvis dansk og engelsk </a:t>
            </a:r>
          </a:p>
          <a:p>
            <a:pPr marL="88900" lvl="0" indent="-88900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”fuld” eller ”lille” version (i den fulde version ser du et eksempel på hver diastype i venstrespalten)</a:t>
            </a:r>
          </a:p>
          <a:p>
            <a:pPr marL="88900" lvl="0" indent="-889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/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samt en demopræsentation med indsat tekst på engelsk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Hvis du bruger en ”fuld” version, skal du slette de dias, du ikke vil bruge.</a:t>
            </a: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Mac-brugere m.fl. kan hente PowerPoint-skabelonerne på</a:t>
            </a:r>
            <a:r>
              <a:rPr lang="da-DK" sz="800" baseline="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www.designguide.ku.dk/skabeloner/powerpoint/</a:t>
            </a:r>
            <a:b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</a:br>
            <a:r>
              <a:rPr lang="da-DK" sz="800" dirty="0">
                <a:solidFill>
                  <a:schemeClr val="accent4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praesentationer/</a:t>
            </a:r>
            <a:endParaRPr lang="da-DK" sz="800" dirty="0">
              <a:solidFill>
                <a:schemeClr val="accent4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Text Box 48"/>
          <p:cNvSpPr txBox="1">
            <a:spLocks noChangeArrowheads="1"/>
          </p:cNvSpPr>
          <p:nvPr userDrawn="1"/>
        </p:nvSpPr>
        <p:spPr bwMode="auto">
          <a:xfrm>
            <a:off x="2576655" y="4237555"/>
            <a:ext cx="1755548" cy="1763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 din enheds navn (fx institut), sidenummer og dato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Indsæt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i topmenuen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Sidehoved og Sidefod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Udfyld felterne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Vælg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 på alle 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- eller </a:t>
            </a:r>
            <a:r>
              <a:rPr lang="da-DK" sz="800" b="1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Anvend</a:t>
            </a: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, hvis det kun skal være på et enkelt dias/slide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da-DK" sz="800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Oplysningerne placeres i højre side af den grå topbjælke.</a:t>
            </a:r>
          </a:p>
        </p:txBody>
      </p:sp>
      <p:sp>
        <p:nvSpPr>
          <p:cNvPr id="50" name="Text Box 48"/>
          <p:cNvSpPr txBox="1">
            <a:spLocks noChangeArrowheads="1"/>
          </p:cNvSpPr>
          <p:nvPr userDrawn="1"/>
        </p:nvSpPr>
        <p:spPr bwMode="auto">
          <a:xfrm>
            <a:off x="587375" y="5678667"/>
            <a:ext cx="189959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Lav nyt dias/slide (hhv. 2010- + 2013- og 2016-version) 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</p:txBody>
      </p:sp>
      <p:pic>
        <p:nvPicPr>
          <p:cNvPr id="51" name="Billede 40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4157637" y="2940574"/>
            <a:ext cx="395416" cy="126627"/>
          </a:xfrm>
          <a:prstGeom prst="rect">
            <a:avLst/>
          </a:prstGeom>
        </p:spPr>
      </p:pic>
      <p:sp>
        <p:nvSpPr>
          <p:cNvPr id="52" name="Text Box 48"/>
          <p:cNvSpPr txBox="1">
            <a:spLocks noChangeArrowheads="1"/>
          </p:cNvSpPr>
          <p:nvPr userDrawn="1"/>
        </p:nvSpPr>
        <p:spPr bwMode="auto">
          <a:xfrm>
            <a:off x="2587038" y="2582327"/>
            <a:ext cx="1624241" cy="72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Diastype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da-DK" altLang="da-DK" sz="8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</a:t>
            </a: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Startside/Hjem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Vælg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Layout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dit nuværende dias/slide til et alternativt layout</a:t>
            </a:r>
          </a:p>
        </p:txBody>
      </p:sp>
      <p:sp>
        <p:nvSpPr>
          <p:cNvPr id="53" name="Text Box 48"/>
          <p:cNvSpPr txBox="1">
            <a:spLocks noChangeArrowheads="1"/>
          </p:cNvSpPr>
          <p:nvPr userDrawn="1"/>
        </p:nvSpPr>
        <p:spPr bwMode="auto">
          <a:xfrm>
            <a:off x="2576655" y="3571524"/>
            <a:ext cx="16346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Skrift</a:t>
            </a:r>
            <a:br>
              <a:rPr lang="da-DK" sz="10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altLang="da-DK" sz="8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KU Anvender skriften Microsoft New Tai Lue i PowerPoint.</a:t>
            </a:r>
            <a:endParaRPr lang="da-DK" altLang="da-DK" sz="8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4" name="Text Box 48"/>
          <p:cNvSpPr txBox="1">
            <a:spLocks noChangeArrowheads="1"/>
          </p:cNvSpPr>
          <p:nvPr userDrawn="1"/>
        </p:nvSpPr>
        <p:spPr bwMode="auto">
          <a:xfrm>
            <a:off x="4739114" y="1627125"/>
            <a:ext cx="1634624" cy="233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se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Klik på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Vis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Gitterlinjer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og/eller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For at etablere flere gitter- og hjælpelinjer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Før musen over en eksisterende hjælpelinje og klik på linjen (koordinater på linjen vises)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CTRL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nede, mens du flytter placeringen af den eksisterende linje (tilføjer en ny)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Tryk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Alt + F9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hurtig visning af hjælpelinjer</a:t>
            </a:r>
          </a:p>
        </p:txBody>
      </p:sp>
      <p:sp>
        <p:nvSpPr>
          <p:cNvPr id="55" name="Text Box 48"/>
          <p:cNvSpPr txBox="1">
            <a:spLocks noChangeArrowheads="1"/>
          </p:cNvSpPr>
          <p:nvPr userDrawn="1"/>
        </p:nvSpPr>
        <p:spPr bwMode="auto">
          <a:xfrm>
            <a:off x="4728822" y="4141417"/>
            <a:ext cx="1634624" cy="1923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På layouts med billedholder: Klik på ikon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Indsæt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Teksten ”Klik her, hvis du vil udskifte billedet” bliver ikke vist i din præsentation.  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hente KU-billeder, som er tilpasset og minimeret til 16:9-format via dette link:</a:t>
            </a:r>
            <a:b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4"/>
              </a:rPr>
              <a:t>https://image.ku.dk/shared/hWmEPPfgximErBNWW58CxRIZfLkOMC9n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Vælg slideshow-visning for at gøre linket aktivt.</a:t>
            </a:r>
          </a:p>
        </p:txBody>
      </p:sp>
      <p:sp>
        <p:nvSpPr>
          <p:cNvPr id="56" name="Text Box 48"/>
          <p:cNvSpPr txBox="1">
            <a:spLocks noChangeArrowheads="1"/>
          </p:cNvSpPr>
          <p:nvPr userDrawn="1"/>
        </p:nvSpPr>
        <p:spPr bwMode="auto">
          <a:xfrm>
            <a:off x="6691561" y="1640495"/>
            <a:ext cx="163462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Billedstørrelser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De optimale billedstørrelser 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16:9-format: 1.500 x 818 pixels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Gem billederne i 72 dpi og i ”jpg-medium-kvalitet”</a:t>
            </a:r>
          </a:p>
        </p:txBody>
      </p:sp>
      <p:sp>
        <p:nvSpPr>
          <p:cNvPr id="57" name="Text Box 48"/>
          <p:cNvSpPr txBox="1">
            <a:spLocks noChangeArrowheads="1"/>
          </p:cNvSpPr>
          <p:nvPr userDrawn="1"/>
        </p:nvSpPr>
        <p:spPr bwMode="auto">
          <a:xfrm>
            <a:off x="6691561" y="2720006"/>
            <a:ext cx="1634624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 billede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1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. Klik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Beskær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for at ændre billedets fokus/størrelse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2.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Ønsker du at skalere billedet, så hold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SHIFT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-knappen nede, mens du trækker i billedets hjørner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3.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billedet og vælg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Tip: 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8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Placer bagerst</a:t>
            </a:r>
          </a:p>
        </p:txBody>
      </p:sp>
      <p:sp>
        <p:nvSpPr>
          <p:cNvPr id="58" name="Text Box 48"/>
          <p:cNvSpPr txBox="1">
            <a:spLocks noChangeArrowheads="1"/>
          </p:cNvSpPr>
          <p:nvPr userDrawn="1"/>
        </p:nvSpPr>
        <p:spPr bwMode="auto">
          <a:xfrm>
            <a:off x="6691561" y="4765322"/>
            <a:ext cx="1634624" cy="88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Skabelonens farver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Du kan vælge mellem en række farver til baggrunde og grafer.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Højreklik på den flade, du vil skifte farve på, og derefter malerbøtte-ikonet (Fyldfarve til figur)</a:t>
            </a:r>
          </a:p>
        </p:txBody>
      </p:sp>
      <p:sp>
        <p:nvSpPr>
          <p:cNvPr id="59" name="Text Box 48"/>
          <p:cNvSpPr txBox="1">
            <a:spLocks noChangeArrowheads="1"/>
          </p:cNvSpPr>
          <p:nvPr userDrawn="1"/>
        </p:nvSpPr>
        <p:spPr bwMode="auto">
          <a:xfrm>
            <a:off x="6691561" y="5815137"/>
            <a:ext cx="16346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Mere information</a:t>
            </a:r>
            <a:br>
              <a:rPr lang="da-DK" sz="1000" b="1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Se</a:t>
            </a:r>
            <a: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designguiden</a:t>
            </a:r>
            <a:r>
              <a:rPr lang="da-DK" sz="8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på</a:t>
            </a:r>
            <a:br>
              <a:rPr lang="da-DK" sz="800" b="0" baseline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  <a:t>www.designguide.ku.dk/skabeloner/powerpoint/</a:t>
            </a:r>
            <a:b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</a:br>
            <a:r>
              <a:rPr lang="da-DK" sz="800" b="0" noProof="1">
                <a:solidFill>
                  <a:schemeClr val="accent4"/>
                </a:solidFill>
                <a:latin typeface="+mj-lt"/>
                <a:cs typeface="Arial" panose="020B0604020202020204" pitchFamily="34" charset="0"/>
                <a:hlinkClick r:id="rId2"/>
              </a:rPr>
              <a:t>praesentationer/</a:t>
            </a:r>
            <a:endParaRPr lang="da-DK" sz="800" b="0" noProof="1">
              <a:solidFill>
                <a:schemeClr val="accent4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60" name="Billede 2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8044" y="4201412"/>
            <a:ext cx="257327" cy="275280"/>
          </a:xfrm>
          <a:prstGeom prst="rect">
            <a:avLst/>
          </a:prstGeom>
        </p:spPr>
      </p:pic>
      <p:pic>
        <p:nvPicPr>
          <p:cNvPr id="61" name="Billede 3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223538" y="2795378"/>
            <a:ext cx="288708" cy="275280"/>
          </a:xfrm>
          <a:prstGeom prst="rect">
            <a:avLst/>
          </a:prstGeom>
        </p:spPr>
      </p:pic>
      <p:pic>
        <p:nvPicPr>
          <p:cNvPr id="62" name="Billede 37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41826" y="3187789"/>
            <a:ext cx="223122" cy="228843"/>
          </a:xfrm>
          <a:prstGeom prst="rect">
            <a:avLst/>
          </a:prstGeom>
        </p:spPr>
      </p:pic>
      <p:sp>
        <p:nvSpPr>
          <p:cNvPr id="63" name="Text Box 48"/>
          <p:cNvSpPr txBox="1">
            <a:spLocks noChangeArrowheads="1"/>
          </p:cNvSpPr>
          <p:nvPr userDrawn="1"/>
        </p:nvSpPr>
        <p:spPr bwMode="auto">
          <a:xfrm>
            <a:off x="2564067" y="1666128"/>
            <a:ext cx="176813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altLang="da-DK" sz="8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knappen </a:t>
            </a:r>
            <a:r>
              <a:rPr lang="da-DK" altLang="da-DK" sz="8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Nyt dias/Nyt slide</a:t>
            </a:r>
            <a:r>
              <a:rPr lang="da-DK" altLang="da-DK" sz="8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på øverste del af knappen for at oprette i et dias/slide magen til det markerede. Klik på nederste del for at se et udvalg af mulige layoutvalg</a:t>
            </a:r>
            <a:endParaRPr lang="da-DK" altLang="da-DK" sz="8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4" name="Billede 39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4231619" y="1844048"/>
            <a:ext cx="235367" cy="418987"/>
          </a:xfrm>
          <a:prstGeom prst="rect">
            <a:avLst/>
          </a:prstGeom>
        </p:spPr>
      </p:pic>
      <p:sp>
        <p:nvSpPr>
          <p:cNvPr id="65" name="Freeform 10"/>
          <p:cNvSpPr>
            <a:spLocks noChangeAspect="1"/>
          </p:cNvSpPr>
          <p:nvPr userDrawn="1"/>
        </p:nvSpPr>
        <p:spPr>
          <a:xfrm rot="19800000">
            <a:off x="4404080" y="1900198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66" name="Freeform 10"/>
          <p:cNvSpPr>
            <a:spLocks noChangeAspect="1"/>
          </p:cNvSpPr>
          <p:nvPr userDrawn="1"/>
        </p:nvSpPr>
        <p:spPr>
          <a:xfrm rot="19800000">
            <a:off x="4416414" y="2138150"/>
            <a:ext cx="69672" cy="124351"/>
          </a:xfrm>
          <a:custGeom>
            <a:avLst/>
            <a:gdLst>
              <a:gd name="connsiteX0" fmla="*/ 381342 w 762684"/>
              <a:gd name="connsiteY0" fmla="*/ 0 h 1361254"/>
              <a:gd name="connsiteX1" fmla="*/ 762684 w 762684"/>
              <a:gd name="connsiteY1" fmla="*/ 823784 h 1361254"/>
              <a:gd name="connsiteX2" fmla="*/ 459602 w 762684"/>
              <a:gd name="connsiteY2" fmla="*/ 823784 h 1361254"/>
              <a:gd name="connsiteX3" fmla="*/ 459601 w 762684"/>
              <a:gd name="connsiteY3" fmla="*/ 1282994 h 1361254"/>
              <a:gd name="connsiteX4" fmla="*/ 381341 w 762684"/>
              <a:gd name="connsiteY4" fmla="*/ 1361254 h 1361254"/>
              <a:gd name="connsiteX5" fmla="*/ 381342 w 762684"/>
              <a:gd name="connsiteY5" fmla="*/ 1361253 h 1361254"/>
              <a:gd name="connsiteX6" fmla="*/ 303082 w 762684"/>
              <a:gd name="connsiteY6" fmla="*/ 1282993 h 1361254"/>
              <a:gd name="connsiteX7" fmla="*/ 303082 w 762684"/>
              <a:gd name="connsiteY7" fmla="*/ 823784 h 1361254"/>
              <a:gd name="connsiteX8" fmla="*/ 0 w 762684"/>
              <a:gd name="connsiteY8" fmla="*/ 823784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81342 w 762684"/>
              <a:gd name="connsiteY10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16886 w 762684"/>
              <a:gd name="connsiteY10" fmla="*/ 123104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100982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6550 w 762684"/>
              <a:gd name="connsiteY10" fmla="*/ 91149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19866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48840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34 h 1361288"/>
              <a:gd name="connsiteX1" fmla="*/ 425041 w 762684"/>
              <a:gd name="connsiteY1" fmla="*/ 27274 h 1361288"/>
              <a:gd name="connsiteX2" fmla="*/ 762684 w 762684"/>
              <a:gd name="connsiteY2" fmla="*/ 823818 h 1361288"/>
              <a:gd name="connsiteX3" fmla="*/ 459602 w 762684"/>
              <a:gd name="connsiteY3" fmla="*/ 823818 h 1361288"/>
              <a:gd name="connsiteX4" fmla="*/ 459601 w 762684"/>
              <a:gd name="connsiteY4" fmla="*/ 1283028 h 1361288"/>
              <a:gd name="connsiteX5" fmla="*/ 381341 w 762684"/>
              <a:gd name="connsiteY5" fmla="*/ 1361288 h 1361288"/>
              <a:gd name="connsiteX6" fmla="*/ 381342 w 762684"/>
              <a:gd name="connsiteY6" fmla="*/ 1361287 h 1361288"/>
              <a:gd name="connsiteX7" fmla="*/ 303082 w 762684"/>
              <a:gd name="connsiteY7" fmla="*/ 1283027 h 1361288"/>
              <a:gd name="connsiteX8" fmla="*/ 303082 w 762684"/>
              <a:gd name="connsiteY8" fmla="*/ 823818 h 1361288"/>
              <a:gd name="connsiteX9" fmla="*/ 0 w 762684"/>
              <a:gd name="connsiteY9" fmla="*/ 823818 h 1361288"/>
              <a:gd name="connsiteX10" fmla="*/ 334092 w 762684"/>
              <a:gd name="connsiteY10" fmla="*/ 27275 h 1361288"/>
              <a:gd name="connsiteX11" fmla="*/ 381342 w 762684"/>
              <a:gd name="connsiteY11" fmla="*/ 34 h 1361288"/>
              <a:gd name="connsiteX0" fmla="*/ 381342 w 762684"/>
              <a:gd name="connsiteY0" fmla="*/ 269 h 1361523"/>
              <a:gd name="connsiteX1" fmla="*/ 425041 w 762684"/>
              <a:gd name="connsiteY1" fmla="*/ 27509 h 1361523"/>
              <a:gd name="connsiteX2" fmla="*/ 762684 w 762684"/>
              <a:gd name="connsiteY2" fmla="*/ 824053 h 1361523"/>
              <a:gd name="connsiteX3" fmla="*/ 459602 w 762684"/>
              <a:gd name="connsiteY3" fmla="*/ 824053 h 1361523"/>
              <a:gd name="connsiteX4" fmla="*/ 459601 w 762684"/>
              <a:gd name="connsiteY4" fmla="*/ 1283263 h 1361523"/>
              <a:gd name="connsiteX5" fmla="*/ 381341 w 762684"/>
              <a:gd name="connsiteY5" fmla="*/ 1361523 h 1361523"/>
              <a:gd name="connsiteX6" fmla="*/ 381342 w 762684"/>
              <a:gd name="connsiteY6" fmla="*/ 1361522 h 1361523"/>
              <a:gd name="connsiteX7" fmla="*/ 303082 w 762684"/>
              <a:gd name="connsiteY7" fmla="*/ 1283262 h 1361523"/>
              <a:gd name="connsiteX8" fmla="*/ 303082 w 762684"/>
              <a:gd name="connsiteY8" fmla="*/ 824053 h 1361523"/>
              <a:gd name="connsiteX9" fmla="*/ 0 w 762684"/>
              <a:gd name="connsiteY9" fmla="*/ 824053 h 1361523"/>
              <a:gd name="connsiteX10" fmla="*/ 334092 w 762684"/>
              <a:gd name="connsiteY10" fmla="*/ 27510 h 1361523"/>
              <a:gd name="connsiteX11" fmla="*/ 381342 w 762684"/>
              <a:gd name="connsiteY11" fmla="*/ 269 h 1361523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414 h 1361668"/>
              <a:gd name="connsiteX1" fmla="*/ 425041 w 762684"/>
              <a:gd name="connsiteY1" fmla="*/ 27654 h 1361668"/>
              <a:gd name="connsiteX2" fmla="*/ 762684 w 762684"/>
              <a:gd name="connsiteY2" fmla="*/ 824198 h 1361668"/>
              <a:gd name="connsiteX3" fmla="*/ 459602 w 762684"/>
              <a:gd name="connsiteY3" fmla="*/ 824198 h 1361668"/>
              <a:gd name="connsiteX4" fmla="*/ 459601 w 762684"/>
              <a:gd name="connsiteY4" fmla="*/ 1283408 h 1361668"/>
              <a:gd name="connsiteX5" fmla="*/ 381341 w 762684"/>
              <a:gd name="connsiteY5" fmla="*/ 1361668 h 1361668"/>
              <a:gd name="connsiteX6" fmla="*/ 381342 w 762684"/>
              <a:gd name="connsiteY6" fmla="*/ 1361667 h 1361668"/>
              <a:gd name="connsiteX7" fmla="*/ 303082 w 762684"/>
              <a:gd name="connsiteY7" fmla="*/ 1283407 h 1361668"/>
              <a:gd name="connsiteX8" fmla="*/ 303082 w 762684"/>
              <a:gd name="connsiteY8" fmla="*/ 824198 h 1361668"/>
              <a:gd name="connsiteX9" fmla="*/ 0 w 762684"/>
              <a:gd name="connsiteY9" fmla="*/ 824198 h 1361668"/>
              <a:gd name="connsiteX10" fmla="*/ 334092 w 762684"/>
              <a:gd name="connsiteY10" fmla="*/ 27655 h 1361668"/>
              <a:gd name="connsiteX11" fmla="*/ 381342 w 762684"/>
              <a:gd name="connsiteY11" fmla="*/ 414 h 1361668"/>
              <a:gd name="connsiteX0" fmla="*/ 381342 w 762684"/>
              <a:gd name="connsiteY0" fmla="*/ 18 h 1361272"/>
              <a:gd name="connsiteX1" fmla="*/ 425041 w 762684"/>
              <a:gd name="connsiteY1" fmla="*/ 27258 h 1361272"/>
              <a:gd name="connsiteX2" fmla="*/ 762684 w 762684"/>
              <a:gd name="connsiteY2" fmla="*/ 823802 h 1361272"/>
              <a:gd name="connsiteX3" fmla="*/ 459602 w 762684"/>
              <a:gd name="connsiteY3" fmla="*/ 823802 h 1361272"/>
              <a:gd name="connsiteX4" fmla="*/ 459601 w 762684"/>
              <a:gd name="connsiteY4" fmla="*/ 1283012 h 1361272"/>
              <a:gd name="connsiteX5" fmla="*/ 381341 w 762684"/>
              <a:gd name="connsiteY5" fmla="*/ 1361272 h 1361272"/>
              <a:gd name="connsiteX6" fmla="*/ 381342 w 762684"/>
              <a:gd name="connsiteY6" fmla="*/ 1361271 h 1361272"/>
              <a:gd name="connsiteX7" fmla="*/ 303082 w 762684"/>
              <a:gd name="connsiteY7" fmla="*/ 1283011 h 1361272"/>
              <a:gd name="connsiteX8" fmla="*/ 303082 w 762684"/>
              <a:gd name="connsiteY8" fmla="*/ 823802 h 1361272"/>
              <a:gd name="connsiteX9" fmla="*/ 0 w 762684"/>
              <a:gd name="connsiteY9" fmla="*/ 823802 h 1361272"/>
              <a:gd name="connsiteX10" fmla="*/ 334092 w 762684"/>
              <a:gd name="connsiteY10" fmla="*/ 27259 h 1361272"/>
              <a:gd name="connsiteX11" fmla="*/ 381342 w 762684"/>
              <a:gd name="connsiteY11" fmla="*/ 18 h 1361272"/>
              <a:gd name="connsiteX0" fmla="*/ 381342 w 762684"/>
              <a:gd name="connsiteY0" fmla="*/ 0 h 1361254"/>
              <a:gd name="connsiteX1" fmla="*/ 425041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  <a:gd name="connsiteX0" fmla="*/ 381342 w 762684"/>
              <a:gd name="connsiteY0" fmla="*/ 0 h 1361254"/>
              <a:gd name="connsiteX1" fmla="*/ 426750 w 762684"/>
              <a:gd name="connsiteY1" fmla="*/ 27240 h 1361254"/>
              <a:gd name="connsiteX2" fmla="*/ 762684 w 762684"/>
              <a:gd name="connsiteY2" fmla="*/ 823784 h 1361254"/>
              <a:gd name="connsiteX3" fmla="*/ 459602 w 762684"/>
              <a:gd name="connsiteY3" fmla="*/ 823784 h 1361254"/>
              <a:gd name="connsiteX4" fmla="*/ 459601 w 762684"/>
              <a:gd name="connsiteY4" fmla="*/ 1282994 h 1361254"/>
              <a:gd name="connsiteX5" fmla="*/ 381341 w 762684"/>
              <a:gd name="connsiteY5" fmla="*/ 1361254 h 1361254"/>
              <a:gd name="connsiteX6" fmla="*/ 381342 w 762684"/>
              <a:gd name="connsiteY6" fmla="*/ 1361253 h 1361254"/>
              <a:gd name="connsiteX7" fmla="*/ 303082 w 762684"/>
              <a:gd name="connsiteY7" fmla="*/ 1282993 h 1361254"/>
              <a:gd name="connsiteX8" fmla="*/ 303082 w 762684"/>
              <a:gd name="connsiteY8" fmla="*/ 823784 h 1361254"/>
              <a:gd name="connsiteX9" fmla="*/ 0 w 762684"/>
              <a:gd name="connsiteY9" fmla="*/ 823784 h 1361254"/>
              <a:gd name="connsiteX10" fmla="*/ 334092 w 762684"/>
              <a:gd name="connsiteY10" fmla="*/ 27241 h 1361254"/>
              <a:gd name="connsiteX11" fmla="*/ 381342 w 762684"/>
              <a:gd name="connsiteY11" fmla="*/ 0 h 136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62684" h="1361254">
                <a:moveTo>
                  <a:pt x="381342" y="0"/>
                </a:moveTo>
                <a:cubicBezTo>
                  <a:pt x="395908" y="1387"/>
                  <a:pt x="412184" y="3630"/>
                  <a:pt x="426750" y="27240"/>
                </a:cubicBezTo>
                <a:lnTo>
                  <a:pt x="762684" y="823784"/>
                </a:lnTo>
                <a:lnTo>
                  <a:pt x="459602" y="823784"/>
                </a:lnTo>
                <a:cubicBezTo>
                  <a:pt x="459602" y="976854"/>
                  <a:pt x="459601" y="1129924"/>
                  <a:pt x="459601" y="1282994"/>
                </a:cubicBezTo>
                <a:cubicBezTo>
                  <a:pt x="459601" y="1326216"/>
                  <a:pt x="424563" y="1361254"/>
                  <a:pt x="381341" y="1361254"/>
                </a:cubicBezTo>
                <a:lnTo>
                  <a:pt x="381342" y="1361253"/>
                </a:lnTo>
                <a:cubicBezTo>
                  <a:pt x="338120" y="1361253"/>
                  <a:pt x="303082" y="1326215"/>
                  <a:pt x="303082" y="1282993"/>
                </a:cubicBezTo>
                <a:lnTo>
                  <a:pt x="303082" y="823784"/>
                </a:lnTo>
                <a:lnTo>
                  <a:pt x="0" y="823784"/>
                </a:lnTo>
                <a:lnTo>
                  <a:pt x="334092" y="27241"/>
                </a:lnTo>
                <a:cubicBezTo>
                  <a:pt x="343005" y="9615"/>
                  <a:pt x="366447" y="533"/>
                  <a:pt x="381342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chemeClr val="tx1"/>
              </a:solidFill>
            </a:endParaRPr>
          </a:p>
        </p:txBody>
      </p:sp>
      <p:sp>
        <p:nvSpPr>
          <p:cNvPr id="22" name="Pladsholder til dato 3" hidden="1">
            <a:extLst>
              <a:ext uri="{FF2B5EF4-FFF2-40B4-BE49-F238E27FC236}">
                <a16:creationId xmlns:a16="http://schemas.microsoft.com/office/drawing/2014/main" id="{79C6BA40-0A49-7673-45A9-7C4D3541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FA96AD4B-435A-4D0A-87A0-F4000646B7B6}" type="datetime1">
              <a:rPr lang="da-DK" smtClean="0"/>
              <a:t>04-01-2026</a:t>
            </a:fld>
            <a:endParaRPr lang="da-DK" dirty="0"/>
          </a:p>
        </p:txBody>
      </p:sp>
      <p:sp>
        <p:nvSpPr>
          <p:cNvPr id="23" name="Pladsholder til sidefod 4" hidden="1">
            <a:extLst>
              <a:ext uri="{FF2B5EF4-FFF2-40B4-BE49-F238E27FC236}">
                <a16:creationId xmlns:a16="http://schemas.microsoft.com/office/drawing/2014/main" id="{F4D4719E-1E3F-B75D-AF75-C575C79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4" name="Pladsholder til slidenummer 5" hidden="1">
            <a:extLst>
              <a:ext uri="{FF2B5EF4-FFF2-40B4-BE49-F238E27FC236}">
                <a16:creationId xmlns:a16="http://schemas.microsoft.com/office/drawing/2014/main" id="{9434FDBC-E923-AFC0-E942-C9567245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4027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588965" y="620714"/>
            <a:ext cx="11012486" cy="8648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588964" y="1628775"/>
            <a:ext cx="11012487" cy="4673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Klik for at redigere i master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4</a:t>
            </a:r>
          </a:p>
          <a:p>
            <a:pPr lvl="4"/>
            <a:r>
              <a:rPr lang="da-DK" dirty="0"/>
              <a:t>5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  <a:p>
            <a:pPr lvl="7"/>
            <a:r>
              <a:rPr lang="da-DK" dirty="0"/>
              <a:t>8</a:t>
            </a:r>
          </a:p>
          <a:p>
            <a:pPr lvl="8"/>
            <a:r>
              <a:rPr lang="da-DK" dirty="0"/>
              <a:t>9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AF5BBBEC-8DDA-37BC-3B1E-5DB781A5DDC2}"/>
              </a:ext>
            </a:extLst>
          </p:cNvPr>
          <p:cNvSpPr/>
          <p:nvPr userDrawn="1"/>
        </p:nvSpPr>
        <p:spPr>
          <a:xfrm>
            <a:off x="0" y="0"/>
            <a:ext cx="12192000" cy="332655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EEFEE">
                  <a:alpha val="92941"/>
                </a:srgbClr>
              </a:gs>
            </a:gsLst>
            <a:lin ang="5400000" scaled="0"/>
            <a:tileRect/>
          </a:gradFill>
          <a:ln w="381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latin typeface="Aptos" panose="020B00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2"/>
          <a:srcRect l="12043" t="11448" r="17199" b="13844"/>
          <a:stretch/>
        </p:blipFill>
        <p:spPr>
          <a:xfrm>
            <a:off x="335534" y="63578"/>
            <a:ext cx="166516" cy="211296"/>
          </a:xfrm>
          <a:prstGeom prst="rect">
            <a:avLst/>
          </a:prstGeom>
        </p:spPr>
      </p:pic>
      <p:pic>
        <p:nvPicPr>
          <p:cNvPr id="9" name="Picture 27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8" y="96467"/>
            <a:ext cx="2346641" cy="159521"/>
          </a:xfrm>
          <a:prstGeom prst="rect">
            <a:avLst/>
          </a:prstGeom>
        </p:spPr>
      </p:pic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236495" y="85745"/>
            <a:ext cx="6981162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  <a:latin typeface="Aptos" panose="020B00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11219691" y="85745"/>
            <a:ext cx="381759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  <a:latin typeface="Aptos" panose="020B0004020202020204" pitchFamily="34" charset="0"/>
              </a:defRPr>
            </a:lvl1pPr>
          </a:lstStyle>
          <a:p>
            <a:fld id="{091A926C-488A-4E3E-9C21-57CAA120E114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10329111" y="85745"/>
            <a:ext cx="814976" cy="17679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rgbClr val="333333"/>
                </a:solidFill>
                <a:latin typeface="Aptos" panose="020B0004020202020204" pitchFamily="34" charset="0"/>
              </a:defRPr>
            </a:lvl1pPr>
          </a:lstStyle>
          <a:p>
            <a:fld id="{7A056A0C-BA80-48B5-9C35-4A96F80DBB77}" type="datetime1">
              <a:rPr lang="da-DK" smtClean="0"/>
              <a:pPr/>
              <a:t>04-01-2026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362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9" r:id="rId2"/>
    <p:sldLayoutId id="2147483671" r:id="rId3"/>
    <p:sldLayoutId id="2147483701" r:id="rId4"/>
    <p:sldLayoutId id="2147483674" r:id="rId5"/>
    <p:sldLayoutId id="2147483670" r:id="rId6"/>
    <p:sldLayoutId id="2147483660" r:id="rId7"/>
    <p:sldLayoutId id="2147483662" r:id="rId8"/>
    <p:sldLayoutId id="2147483684" r:id="rId9"/>
    <p:sldLayoutId id="2147483685" r:id="rId10"/>
    <p:sldLayoutId id="2147483664" r:id="rId11"/>
    <p:sldLayoutId id="2147483665" r:id="rId12"/>
    <p:sldLayoutId id="2147483689" r:id="rId13"/>
    <p:sldLayoutId id="2147483702" r:id="rId14"/>
    <p:sldLayoutId id="2147483703" r:id="rId15"/>
    <p:sldLayoutId id="2147483694" r:id="rId16"/>
    <p:sldLayoutId id="2147483692" r:id="rId17"/>
    <p:sldLayoutId id="2147483691" r:id="rId18"/>
    <p:sldLayoutId id="2147483697" r:id="rId19"/>
    <p:sldLayoutId id="2147483704" r:id="rId20"/>
    <p:sldLayoutId id="2147483705" r:id="rId21"/>
    <p:sldLayoutId id="2147483695" r:id="rId22"/>
    <p:sldLayoutId id="2147483698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693" r:id="rId29"/>
    <p:sldLayoutId id="2147483688" r:id="rId3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0" i="0" kern="1200" spc="60" baseline="0">
          <a:solidFill>
            <a:schemeClr val="accent1"/>
          </a:solidFill>
          <a:latin typeface="Aptos" panose="020B0004020202020204" pitchFamily="34" charset="0"/>
          <a:ea typeface="Open Sans Extrabold" panose="020B0606030504020204" pitchFamily="34" charset="0"/>
          <a:cs typeface="Microsoft New Tai Lue" panose="020B0502040204020203" pitchFamily="34" charset="0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lang="da-DK" sz="2400" b="0" i="0" kern="1200" spc="6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1pPr>
      <a:lvl2pPr marL="719138" marR="0" indent="-358775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lang="da-DK" sz="2000" b="0" i="0" kern="1200" spc="6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2pPr>
      <a:lvl3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3pPr>
      <a:lvl4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4pPr>
      <a:lvl5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spc="6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5pPr>
      <a:lvl6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6pPr>
      <a:lvl7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7pPr>
      <a:lvl8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8pPr>
      <a:lvl9pPr marL="1072800" indent="-352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a-DK" sz="1800" b="0" i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Microsoft New Tai Lue" panose="020B0502040204020203" pitchFamily="34" charset="0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" userDrawn="1">
          <p15:clr>
            <a:srgbClr val="F26B43"/>
          </p15:clr>
        </p15:guide>
        <p15:guide id="4" orient="horz" pos="935" userDrawn="1">
          <p15:clr>
            <a:srgbClr val="F26B43"/>
          </p15:clr>
        </p15:guide>
        <p15:guide id="5" pos="371" userDrawn="1">
          <p15:clr>
            <a:srgbClr val="F26B43"/>
          </p15:clr>
        </p15:guide>
        <p15:guide id="6" pos="73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hyperlink" Target="https://github.com/sbhattlab/phylo2vec" TargetMode="External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hub.com/sbhattlab/phylo2vec-workshop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4A27-B96F-FF49-952F-8EF3F8AA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270F0-8F8E-46A3-BFFE-96163F9D413B}" type="datetime1">
              <a:rPr lang="da-DK" smtClean="0">
                <a:latin typeface="Aptos" panose="020B0004020202020204" pitchFamily="34" charset="0"/>
              </a:rPr>
              <a:t>04-01-2026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56401-0EC4-5C4E-B05C-BACA002C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pPr/>
              <a:t>1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EA49827-CE52-FD4B-8399-162D5E1DD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5F9F9FB-61AF-8548-83E5-79EB62A8C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b="0" dirty="0">
                <a:latin typeface="Aptos" panose="020B0004020202020204" pitchFamily="34" charset="0"/>
              </a:rPr>
              <a:t>19.09.2025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D5F85F-0777-314B-A8CB-A12F7D46B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63" y="4053599"/>
            <a:ext cx="4946649" cy="1141855"/>
          </a:xfrm>
        </p:spPr>
        <p:txBody>
          <a:bodyPr/>
          <a:lstStyle/>
          <a:p>
            <a:r>
              <a:rPr lang="da-DK" b="0" dirty="0">
                <a:latin typeface="Aptos" panose="020B0004020202020204" pitchFamily="34" charset="0"/>
              </a:rPr>
              <a:t>Neil Scheidwasser, </a:t>
            </a:r>
            <a:r>
              <a:rPr lang="da-DK" dirty="0">
                <a:latin typeface="Aptos" panose="020B0004020202020204" pitchFamily="34" charset="0"/>
              </a:rPr>
              <a:t>Prince Ravi Leow, Samir Bhatt (KU)</a:t>
            </a:r>
          </a:p>
          <a:p>
            <a:r>
              <a:rPr lang="da-DK" b="0" dirty="0">
                <a:latin typeface="Aptos" panose="020B0004020202020204" pitchFamily="34" charset="0"/>
              </a:rPr>
              <a:t>Don </a:t>
            </a:r>
            <a:r>
              <a:rPr lang="da-DK" b="0" dirty="0" err="1">
                <a:latin typeface="Aptos" panose="020B0004020202020204" pitchFamily="34" charset="0"/>
              </a:rPr>
              <a:t>Setiawan</a:t>
            </a:r>
            <a:r>
              <a:rPr lang="da-DK" dirty="0">
                <a:latin typeface="Aptos" panose="020B0004020202020204" pitchFamily="34" charset="0"/>
              </a:rPr>
              <a:t>, Anshul Tambay (SSEC)</a:t>
            </a:r>
          </a:p>
          <a:p>
            <a:r>
              <a:rPr lang="da-DK" b="0" dirty="0">
                <a:latin typeface="Aptos" panose="020B0004020202020204" pitchFamily="34" charset="0"/>
              </a:rPr>
              <a:t>Oli</a:t>
            </a:r>
            <a:r>
              <a:rPr lang="da-DK" dirty="0">
                <a:latin typeface="Aptos" panose="020B0004020202020204" pitchFamily="34" charset="0"/>
              </a:rPr>
              <a:t>ver Ratmann (IC)</a:t>
            </a:r>
            <a:endParaRPr lang="da-DK" b="0" dirty="0">
              <a:latin typeface="Aptos" panose="020B00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218C83D-C112-3B45-B0BC-99E947581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a-DK" dirty="0">
                <a:latin typeface="Aptos" panose="020B0004020202020204" pitchFamily="34" charset="0"/>
              </a:rPr>
              <a:t>p</a:t>
            </a:r>
            <a:r>
              <a:rPr lang="da-DK" b="0" dirty="0">
                <a:latin typeface="Aptos" panose="020B0004020202020204" pitchFamily="34" charset="0"/>
              </a:rPr>
              <a:t>hylo2vec workshop</a:t>
            </a:r>
          </a:p>
        </p:txBody>
      </p:sp>
    </p:spTree>
    <p:extLst>
      <p:ext uri="{BB962C8B-B14F-4D97-AF65-F5344CB8AC3E}">
        <p14:creationId xmlns:p14="http://schemas.microsoft.com/office/powerpoint/2010/main" val="2609762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5D791-CCB3-1E41-9275-846295D5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54480-C453-0249-AF66-494D6C878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628775"/>
            <a:ext cx="11012488" cy="449407"/>
          </a:xfrm>
        </p:spPr>
        <p:txBody>
          <a:bodyPr/>
          <a:lstStyle/>
          <a:p>
            <a:r>
              <a:rPr lang="en-US" noProof="0" dirty="0">
                <a:latin typeface="Aptos" panose="020B0004020202020204" pitchFamily="34" charset="0"/>
              </a:rPr>
              <a:t>phylo2vec = ”phylogeny to vector”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716D6-12A9-6848-9732-186C35C7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FD22D-F364-4E9E-AF9D-75D698CDD634}" type="datetime1">
              <a:rPr lang="da-DK" smtClean="0">
                <a:latin typeface="Aptos" panose="020B0004020202020204" pitchFamily="34" charset="0"/>
              </a:rPr>
              <a:t>04-01-2026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9EDD3-1818-064E-95C1-FCEF1BC9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t>2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E633CC8-D485-76E6-6996-A6821AE6A595}"/>
              </a:ext>
            </a:extLst>
          </p:cNvPr>
          <p:cNvSpPr txBox="1">
            <a:spLocks/>
          </p:cNvSpPr>
          <p:nvPr/>
        </p:nvSpPr>
        <p:spPr>
          <a:xfrm>
            <a:off x="588963" y="2139517"/>
            <a:ext cx="5507037" cy="40977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BEF09021-9F42-50E0-53A6-17B98E76616A}"/>
              </a:ext>
            </a:extLst>
          </p:cNvPr>
          <p:cNvSpPr txBox="1">
            <a:spLocks/>
          </p:cNvSpPr>
          <p:nvPr/>
        </p:nvSpPr>
        <p:spPr>
          <a:xfrm>
            <a:off x="6095207" y="2133600"/>
            <a:ext cx="5507037" cy="40977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da-DK" sz="24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1pPr>
            <a:lvl2pPr marL="719138" marR="0" indent="-358775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da-DK" sz="20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2pPr>
            <a:lvl3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7191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da-DK" sz="1800" b="0" i="0" kern="120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spc="60" baseline="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6pPr>
            <a:lvl7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7pPr>
            <a:lvl8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8pPr>
            <a:lvl9pPr marL="1072800" indent="-352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a-DK" sz="1800" b="0" i="0" kern="1200" dirty="0" smtClean="0">
                <a:solidFill>
                  <a:schemeClr val="tx1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9pPr>
          </a:lstStyle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Content Placeholder 19" descr="Diagram&#10;&#10;Description automatically generated">
            <a:extLst>
              <a:ext uri="{FF2B5EF4-FFF2-40B4-BE49-F238E27FC236}">
                <a16:creationId xmlns:a16="http://schemas.microsoft.com/office/drawing/2014/main" id="{BF5B2063-ABAE-0433-243F-0DE73E3250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983" t="13595" r="15068" b="18150"/>
          <a:stretch/>
        </p:blipFill>
        <p:spPr>
          <a:xfrm>
            <a:off x="1745289" y="3111897"/>
            <a:ext cx="4135711" cy="3112076"/>
          </a:xfrm>
          <a:prstGeom prst="rect">
            <a:avLst/>
          </a:prstGeo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3D2B247D-8178-F6A2-4598-9A2F4B5C9DC7}"/>
              </a:ext>
            </a:extLst>
          </p:cNvPr>
          <p:cNvSpPr/>
          <p:nvPr/>
        </p:nvSpPr>
        <p:spPr>
          <a:xfrm rot="10800000">
            <a:off x="1367626" y="3123731"/>
            <a:ext cx="208610" cy="311947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67BC0-0DC9-A270-614C-7327A2CB24BA}"/>
              </a:ext>
            </a:extLst>
          </p:cNvPr>
          <p:cNvSpPr txBox="1"/>
          <p:nvPr/>
        </p:nvSpPr>
        <p:spPr>
          <a:xfrm>
            <a:off x="-159742" y="4498801"/>
            <a:ext cx="1579417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914377">
              <a:spcBef>
                <a:spcPct val="0"/>
              </a:spcBef>
            </a:pPr>
            <a:r>
              <a:rPr lang="en-GB" sz="2400" dirty="0">
                <a:latin typeface="Aptos" panose="020B0004020202020204" pitchFamily="34" charset="0"/>
              </a:rPr>
              <a:t>Topology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B653A7-E4D1-573E-3847-E3FF87B0ADB4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5666624" y="3759200"/>
            <a:ext cx="253633" cy="561178"/>
          </a:xfrm>
          <a:prstGeom prst="straightConnector1">
            <a:avLst/>
          </a:prstGeom>
          <a:ln>
            <a:solidFill>
              <a:srgbClr val="DA74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56DC35-9480-3427-EE33-D9052C06C0C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483283" y="4320378"/>
            <a:ext cx="436974" cy="61335"/>
          </a:xfrm>
          <a:prstGeom prst="straightConnector1">
            <a:avLst/>
          </a:prstGeom>
          <a:ln>
            <a:solidFill>
              <a:srgbClr val="DA743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7B88F1-336B-28AB-7A75-43F11DAAB620}"/>
              </a:ext>
            </a:extLst>
          </p:cNvPr>
          <p:cNvSpPr txBox="1"/>
          <p:nvPr/>
        </p:nvSpPr>
        <p:spPr>
          <a:xfrm>
            <a:off x="5920257" y="3981824"/>
            <a:ext cx="1305162" cy="67710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2200" dirty="0">
                <a:solidFill>
                  <a:srgbClr val="DA7439"/>
                </a:solidFill>
                <a:latin typeface="Aptos" panose="020B0004020202020204" pitchFamily="34" charset="0"/>
              </a:rPr>
              <a:t>Taxa</a:t>
            </a:r>
          </a:p>
          <a:p>
            <a:pPr algn="ctr" defTabSz="914377">
              <a:spcBef>
                <a:spcPct val="0"/>
              </a:spcBef>
            </a:pPr>
            <a:r>
              <a:rPr lang="en-US" sz="2200" dirty="0">
                <a:solidFill>
                  <a:srgbClr val="DA7439"/>
                </a:solidFill>
                <a:latin typeface="Aptos" panose="020B0004020202020204" pitchFamily="34" charset="0"/>
              </a:rPr>
              <a:t>(Leaves)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E22508-D51E-9374-E19B-0C026CC6DFE2}"/>
              </a:ext>
            </a:extLst>
          </p:cNvPr>
          <p:cNvCxnSpPr>
            <a:cxnSpLocks/>
          </p:cNvCxnSpPr>
          <p:nvPr/>
        </p:nvCxnSpPr>
        <p:spPr>
          <a:xfrm>
            <a:off x="1745289" y="4915497"/>
            <a:ext cx="160751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3B33AFE-2FB1-8518-A037-C773C1F11C1C}"/>
              </a:ext>
            </a:extLst>
          </p:cNvPr>
          <p:cNvCxnSpPr>
            <a:cxnSpLocks/>
          </p:cNvCxnSpPr>
          <p:nvPr/>
        </p:nvCxnSpPr>
        <p:spPr>
          <a:xfrm>
            <a:off x="3352800" y="4398631"/>
            <a:ext cx="6788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E4481F-48AF-78E2-F3BB-CCE7D1309F91}"/>
              </a:ext>
            </a:extLst>
          </p:cNvPr>
          <p:cNvSpPr txBox="1"/>
          <p:nvPr/>
        </p:nvSpPr>
        <p:spPr>
          <a:xfrm>
            <a:off x="1706009" y="3643542"/>
            <a:ext cx="1646791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685800">
              <a:spcBef>
                <a:spcPct val="0"/>
              </a:spcBef>
              <a:buClrTx/>
            </a:pP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Branch lengths</a:t>
            </a:r>
            <a:endParaRPr lang="da-DK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52DD0B6-80F0-AC7F-9E57-32F9F75A8E31}"/>
              </a:ext>
            </a:extLst>
          </p:cNvPr>
          <p:cNvCxnSpPr>
            <a:stCxn id="27" idx="2"/>
          </p:cNvCxnSpPr>
          <p:nvPr/>
        </p:nvCxnSpPr>
        <p:spPr>
          <a:xfrm flipH="1">
            <a:off x="2529404" y="3920541"/>
            <a:ext cx="1" cy="994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FCFE8AF-E477-9E35-5A6C-6EBA96540BD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2529405" y="3920541"/>
            <a:ext cx="848464" cy="478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79BB83F7-7550-ABA6-DB10-A85EED09B82C}"/>
              </a:ext>
            </a:extLst>
          </p:cNvPr>
          <p:cNvSpPr/>
          <p:nvPr/>
        </p:nvSpPr>
        <p:spPr>
          <a:xfrm>
            <a:off x="4643597" y="3449638"/>
            <a:ext cx="180000" cy="1800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da-DK" sz="1800" dirty="0" err="1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9C440E0-0160-CB49-F946-92F89C181AB9}"/>
              </a:ext>
            </a:extLst>
          </p:cNvPr>
          <p:cNvSpPr/>
          <p:nvPr/>
        </p:nvSpPr>
        <p:spPr>
          <a:xfrm>
            <a:off x="4105011" y="4078769"/>
            <a:ext cx="180000" cy="180000"/>
          </a:xfrm>
          <a:prstGeom prst="ellipse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da-DK" sz="1800" dirty="0" err="1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CABF46-9F8E-D280-9A71-E1E8AB4DA1CD}"/>
              </a:ext>
            </a:extLst>
          </p:cNvPr>
          <p:cNvSpPr txBox="1"/>
          <p:nvPr/>
        </p:nvSpPr>
        <p:spPr>
          <a:xfrm>
            <a:off x="2443444" y="2743482"/>
            <a:ext cx="1646791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685800">
              <a:spcBef>
                <a:spcPct val="0"/>
              </a:spcBef>
              <a:buClrTx/>
            </a:pPr>
            <a:r>
              <a:rPr lang="en-US" dirty="0">
                <a:solidFill>
                  <a:srgbClr val="4B8324"/>
                </a:solidFill>
                <a:latin typeface="Aptos" panose="020B0004020202020204" pitchFamily="34" charset="0"/>
              </a:rPr>
              <a:t>Ancestors</a:t>
            </a:r>
            <a:endParaRPr lang="da-DK" dirty="0">
              <a:solidFill>
                <a:srgbClr val="4B8324"/>
              </a:solidFill>
              <a:latin typeface="Aptos" panose="020B0004020202020204" pitchFamily="34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330598-023A-45D9-230E-5DB9E1753D01}"/>
              </a:ext>
            </a:extLst>
          </p:cNvPr>
          <p:cNvCxnSpPr>
            <a:cxnSpLocks/>
            <a:stCxn id="36" idx="2"/>
            <a:endCxn id="34" idx="2"/>
          </p:cNvCxnSpPr>
          <p:nvPr/>
        </p:nvCxnSpPr>
        <p:spPr>
          <a:xfrm>
            <a:off x="3266840" y="3020481"/>
            <a:ext cx="1376757" cy="519157"/>
          </a:xfrm>
          <a:prstGeom prst="straightConnector1">
            <a:avLst/>
          </a:prstGeom>
          <a:ln>
            <a:solidFill>
              <a:srgbClr val="4B83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BB649-199A-7195-4EBA-1C0C388379AB}"/>
              </a:ext>
            </a:extLst>
          </p:cNvPr>
          <p:cNvCxnSpPr>
            <a:cxnSpLocks/>
            <a:stCxn id="36" idx="2"/>
            <a:endCxn id="35" idx="3"/>
          </p:cNvCxnSpPr>
          <p:nvPr/>
        </p:nvCxnSpPr>
        <p:spPr>
          <a:xfrm>
            <a:off x="3266840" y="3020481"/>
            <a:ext cx="864531" cy="1211928"/>
          </a:xfrm>
          <a:prstGeom prst="straightConnector1">
            <a:avLst/>
          </a:prstGeom>
          <a:ln>
            <a:solidFill>
              <a:srgbClr val="4B832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0A9A47A-85F3-0857-5DC8-2ADACBD07D26}"/>
              </a:ext>
            </a:extLst>
          </p:cNvPr>
          <p:cNvSpPr txBox="1"/>
          <p:nvPr/>
        </p:nvSpPr>
        <p:spPr>
          <a:xfrm>
            <a:off x="8666602" y="3878466"/>
            <a:ext cx="34050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Aptos" panose="020B0004020202020204" pitchFamily="34" charset="0"/>
                <a:ea typeface="Cambria Math" panose="02040503050406030204" pitchFamily="18" charset="0"/>
              </a:rPr>
              <a:t>[0, 0, 2, 4, 5]</a:t>
            </a:r>
            <a:endParaRPr lang="en-GB" sz="4000" dirty="0">
              <a:latin typeface="Aptos" panose="020B0004020202020204" pitchFamily="34" charset="0"/>
              <a:ea typeface="Cambria Math" panose="020405030504060302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1B0B14-5D26-0FC7-993C-7E7D2FCA3286}"/>
              </a:ext>
            </a:extLst>
          </p:cNvPr>
          <p:cNvSpPr txBox="1"/>
          <p:nvPr/>
        </p:nvSpPr>
        <p:spPr>
          <a:xfrm>
            <a:off x="9088389" y="3536170"/>
            <a:ext cx="25130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Aptos" panose="020B0004020202020204" pitchFamily="34" charset="0"/>
              </a:rPr>
              <a:t>Topology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0E257C-AD5D-9FC6-8431-19F96881B4AA}"/>
              </a:ext>
            </a:extLst>
          </p:cNvPr>
          <p:cNvSpPr txBox="1"/>
          <p:nvPr/>
        </p:nvSpPr>
        <p:spPr>
          <a:xfrm>
            <a:off x="9143440" y="4490738"/>
            <a:ext cx="25130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</a:rPr>
              <a:t>Branch lengths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90AA10-6518-54A8-0283-7962185E847E}"/>
              </a:ext>
            </a:extLst>
          </p:cNvPr>
          <p:cNvSpPr txBox="1"/>
          <p:nvPr/>
        </p:nvSpPr>
        <p:spPr>
          <a:xfrm>
            <a:off x="8707738" y="4909193"/>
            <a:ext cx="34050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  <a:ea typeface="Cambria Math" panose="02040503050406030204" pitchFamily="18" charset="0"/>
              </a:rPr>
              <a:t>[[0.2, 0.3, 0.1, 0.43, 0.5],</a:t>
            </a:r>
          </a:p>
          <a:p>
            <a:pPr algn="ctr"/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  <a:ea typeface="Cambria Math" panose="02040503050406030204" pitchFamily="18" charset="0"/>
              </a:rPr>
              <a:t>[0.7, 0.8, 1.2, 0.3, 0.4]]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4334CF0-B960-2839-2665-AF6C6787A671}"/>
              </a:ext>
            </a:extLst>
          </p:cNvPr>
          <p:cNvSpPr/>
          <p:nvPr/>
        </p:nvSpPr>
        <p:spPr>
          <a:xfrm>
            <a:off x="7225419" y="4490738"/>
            <a:ext cx="1386925" cy="707886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algn="l"/>
            <a:endParaRPr lang="en-GB" sz="2400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7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D6F6-524C-CDB5-FD63-DEEC629D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0B0004020202020204" pitchFamily="34" charset="0"/>
              </a:rPr>
              <a:t>Motivation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sz="2600" dirty="0"/>
              <a:t>Machine/deep learning</a:t>
            </a:r>
            <a:endParaRPr lang="en-GB" sz="2600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6B05D-8060-8B62-B0DC-F630E907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>
                <a:latin typeface="Aptos" panose="020B0004020202020204" pitchFamily="34" charset="0"/>
              </a:rPr>
              <a:t>04-01-2026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DF3F6-1892-D1E5-1F9E-045F90CD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t>3</a:t>
            </a:fld>
            <a:endParaRPr lang="da-DK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5D678-2F35-4ECE-4D4D-A3DF624EFC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50"/>
          <a:stretch>
            <a:fillRect/>
          </a:stretch>
        </p:blipFill>
        <p:spPr>
          <a:xfrm>
            <a:off x="7799925" y="4762355"/>
            <a:ext cx="4392075" cy="209564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6E9EB31-3EBB-DB32-39DC-6F446A26F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11" y="1842485"/>
            <a:ext cx="6929350" cy="248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C6954-E25F-FFD8-173A-93EA45010AF9}"/>
              </a:ext>
            </a:extLst>
          </p:cNvPr>
          <p:cNvSpPr txBox="1"/>
          <p:nvPr/>
        </p:nvSpPr>
        <p:spPr>
          <a:xfrm>
            <a:off x="4351861" y="4528208"/>
            <a:ext cx="4377128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1200" dirty="0" err="1">
                <a:latin typeface="Aptos" panose="020B0004020202020204" pitchFamily="34" charset="0"/>
              </a:rPr>
              <a:t>Sapoval</a:t>
            </a:r>
            <a:r>
              <a:rPr lang="en-GB" sz="1200" dirty="0">
                <a:latin typeface="Aptos" panose="020B0004020202020204" pitchFamily="34" charset="0"/>
              </a:rPr>
              <a:t> et al., 2022</a:t>
            </a:r>
            <a:endParaRPr lang="en-GB" sz="1200" b="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993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2B57-C9D0-43CF-1542-E78276884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4FB4-29E9-5962-7F16-E5154D2C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0B0004020202020204" pitchFamily="34" charset="0"/>
              </a:rPr>
              <a:t>Motivation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sz="2600" dirty="0">
                <a:latin typeface="Aptos" panose="020B0004020202020204" pitchFamily="34" charset="0"/>
              </a:rPr>
              <a:t>Machine/deep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4BC940-AC19-C8A6-82BC-9A8A08C1D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ML/DL has had limited success with phylogenetic tasks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Why?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Trees have a hierarchical structure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Tree space grows exponentially</a:t>
                </a:r>
              </a:p>
              <a:p>
                <a:pPr lvl="1">
                  <a:spcAft>
                    <a:spcPts val="600"/>
                  </a:spcAft>
                </a:pPr>
                <a:r>
                  <a:rPr lang="en-US" dirty="0"/>
                  <a:t>Number of possible rooted binary trees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leaves: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1⋅3⋅5⋅…⋅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</m:nary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‼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11430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:r>
                  <a:rPr lang="en-US" dirty="0"/>
                  <a:t>It is difficult to get “true” data for supervised learning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4BC940-AC19-C8A6-82BC-9A8A08C1D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6" t="-19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8BEA3-4A85-0CB9-B7FB-41E6F425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>
                <a:latin typeface="Aptos" panose="020B0004020202020204" pitchFamily="34" charset="0"/>
              </a:rPr>
              <a:t>04-01-2026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E2CEC-46C8-5C05-57A4-6E2E3D1E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t>4</a:t>
            </a:fld>
            <a:endParaRPr lang="da-DK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03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0AFD-8255-02D3-E1D6-2F1C704C6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</a:t>
            </a:r>
            <a:br>
              <a:rPr lang="en-GB" dirty="0"/>
            </a:br>
            <a:r>
              <a:rPr lang="en-GB" sz="2400" dirty="0"/>
              <a:t>Representing trees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E43BD-8015-CFED-299A-258404D61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731104"/>
            <a:ext cx="10555123" cy="4928036"/>
          </a:xfrm>
        </p:spPr>
        <p:txBody>
          <a:bodyPr/>
          <a:lstStyle/>
          <a:p>
            <a:r>
              <a:rPr lang="en-US" dirty="0"/>
              <a:t>Traditional format for representing trees = </a:t>
            </a:r>
            <a:r>
              <a:rPr lang="en-US" b="1" dirty="0"/>
              <a:t>Newick format</a:t>
            </a:r>
            <a:endParaRPr lang="en-US" dirty="0"/>
          </a:p>
          <a:p>
            <a:r>
              <a:rPr lang="en-US" dirty="0">
                <a:latin typeface="Aptos" panose="020B0004020202020204" pitchFamily="34" charset="0"/>
              </a:rPr>
              <a:t>Example: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2" name="Pladsholder til dato 1">
            <a:extLst>
              <a:ext uri="{FF2B5EF4-FFF2-40B4-BE49-F238E27FC236}">
                <a16:creationId xmlns:a16="http://schemas.microsoft.com/office/drawing/2014/main" id="{815997F4-C1E6-3905-7BC1-9FFC2035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Aug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C6315-D211-42FA-03BA-D01A69AF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0FF45-723B-CA20-0C1C-06E68039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A99FA-1C8D-C5EE-CB6F-80D36D2C5BD8}"/>
              </a:ext>
            </a:extLst>
          </p:cNvPr>
          <p:cNvSpPr txBox="1"/>
          <p:nvPr/>
        </p:nvSpPr>
        <p:spPr>
          <a:xfrm>
            <a:off x="3786755" y="6566807"/>
            <a:ext cx="4953000" cy="1846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914377">
              <a:spcBef>
                <a:spcPct val="0"/>
              </a:spcBef>
            </a:pPr>
            <a:r>
              <a:rPr lang="en-US" sz="1200" dirty="0">
                <a:latin typeface="Aptos" panose="020B0004020202020204" pitchFamily="34" charset="0"/>
              </a:rPr>
              <a:t>Source: Yang, Z., </a:t>
            </a:r>
            <a:r>
              <a:rPr lang="en-US" sz="1200" i="1" dirty="0">
                <a:latin typeface="Aptos" panose="020B0004020202020204" pitchFamily="34" charset="0"/>
              </a:rPr>
              <a:t>Molecular Evolution: A Statistical Approach, </a:t>
            </a:r>
            <a:r>
              <a:rPr lang="en-US" sz="1200" dirty="0">
                <a:latin typeface="Aptos" panose="020B0004020202020204" pitchFamily="34" charset="0"/>
              </a:rPr>
              <a:t>2014</a:t>
            </a:r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C180C694-635E-B575-68C9-5CCA10BD0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715" y="4296201"/>
            <a:ext cx="5790045" cy="22706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4A5CC2-D18C-F402-526E-549730D35590}"/>
              </a:ext>
            </a:extLst>
          </p:cNvPr>
          <p:cNvSpPr txBox="1"/>
          <p:nvPr/>
        </p:nvSpPr>
        <p:spPr>
          <a:xfrm>
            <a:off x="6026130" y="2875002"/>
            <a:ext cx="50020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070C0"/>
                </a:solidFill>
                <a:latin typeface="Aptos" panose="020B0004020202020204" pitchFamily="34" charset="0"/>
              </a:rPr>
              <a:t>With branch lengths:  </a:t>
            </a:r>
          </a:p>
          <a:p>
            <a:r>
              <a:rPr lang="en-GB" sz="2200" b="1" i="1" dirty="0">
                <a:solidFill>
                  <a:srgbClr val="0070C0"/>
                </a:solidFill>
                <a:latin typeface="Aptos" panose="020B0004020202020204" pitchFamily="34" charset="0"/>
              </a:rPr>
              <a:t>((((A:0.1,B:0.2):0.12,C:0.3):0.123,D:0.4):0.1234, E: 0.5);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5114E-DF26-BDDC-8C12-69B42E1ED197}"/>
              </a:ext>
            </a:extLst>
          </p:cNvPr>
          <p:cNvSpPr txBox="1"/>
          <p:nvPr/>
        </p:nvSpPr>
        <p:spPr>
          <a:xfrm>
            <a:off x="3197715" y="2901770"/>
            <a:ext cx="28284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070C0"/>
                </a:solidFill>
                <a:latin typeface="Aptos" panose="020B0004020202020204" pitchFamily="34" charset="0"/>
              </a:rPr>
              <a:t>Without branch lengths: </a:t>
            </a:r>
          </a:p>
          <a:p>
            <a:r>
              <a:rPr lang="en-GB" sz="2200" b="1" i="1" dirty="0">
                <a:solidFill>
                  <a:srgbClr val="0070C0"/>
                </a:solidFill>
                <a:latin typeface="Aptos" panose="020B0004020202020204" pitchFamily="34" charset="0"/>
              </a:rPr>
              <a:t>((((A, B), C), D), E);</a:t>
            </a:r>
          </a:p>
        </p:txBody>
      </p:sp>
    </p:spTree>
    <p:extLst>
      <p:ext uri="{BB962C8B-B14F-4D97-AF65-F5344CB8AC3E}">
        <p14:creationId xmlns:p14="http://schemas.microsoft.com/office/powerpoint/2010/main" val="8562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716E-F703-B8E7-21F5-43A24D80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F9AFA-F68E-1591-5506-3E6C7AA7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ptos" panose="020B0004020202020204" pitchFamily="34" charset="0"/>
              </a:rPr>
              <a:t>Motivation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sz="2400" dirty="0">
                <a:latin typeface="Aptos" panose="020B0004020202020204" pitchFamily="34" charset="0"/>
              </a:rPr>
              <a:t>Representing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6C214-2DCE-6AB3-CC4C-ED46BDE9B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842485"/>
            <a:ext cx="11159692" cy="4673600"/>
          </a:xfrm>
        </p:spPr>
        <p:txBody>
          <a:bodyPr/>
          <a:lstStyle/>
          <a:p>
            <a:r>
              <a:rPr lang="en-US"/>
              <a:t>Comparing trees is nontrivial </a:t>
            </a:r>
          </a:p>
          <a:p>
            <a:pPr lvl="1"/>
            <a:r>
              <a:rPr lang="en-US" sz="1800" i="1"/>
              <a:t>Tree 1 = (((aaaaad,(aaaaae,aaaaaf)),(aaaaag,(aaaaah,(aaaaai,aaaaaj)))),(aaaaa,(aaaaab,aaaaac)));</a:t>
            </a:r>
          </a:p>
          <a:p>
            <a:pPr lvl="1"/>
            <a:r>
              <a:rPr lang="en-US" sz="1800" i="1"/>
              <a:t>Tree 2 = ((aaaaa,(aaaaab,aaaaac)),((aaaaad,(aaaaae,aaaaaf)),(aaaaag,(aaaaah,(aaaaai,aaaaaj)))));</a:t>
            </a:r>
          </a:p>
          <a:p>
            <a:pPr lvl="1"/>
            <a:r>
              <a:rPr lang="en-US" sz="1700">
                <a:solidFill>
                  <a:srgbClr val="C00000"/>
                </a:solidFill>
              </a:rPr>
              <a:t>Are both trees the same?</a:t>
            </a:r>
            <a:endParaRPr lang="en-US" sz="1700" i="1">
              <a:solidFill>
                <a:srgbClr val="C00000"/>
              </a:solidFill>
            </a:endParaRPr>
          </a:p>
          <a:p>
            <a:r>
              <a:rPr lang="en-US"/>
              <a:t>Sampling random trees is not immediately easy </a:t>
            </a:r>
          </a:p>
          <a:p>
            <a:r>
              <a:rPr lang="en-US"/>
              <a:t>Computer-readable, but not very computer-manipulable</a:t>
            </a:r>
          </a:p>
          <a:p>
            <a:pPr lvl="1"/>
            <a:r>
              <a:rPr lang="en-US"/>
              <a:t>Need to balance parentheses + many string manipulation operations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A90F-592C-D7A5-5859-AC21B29D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>
                <a:latin typeface="Aptos" panose="020B0004020202020204" pitchFamily="34" charset="0"/>
              </a:rPr>
              <a:t>04-01-2026</a:t>
            </a:fld>
            <a:endParaRPr lang="da-DK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FDD12-980A-E31B-0942-878F49E2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>
                <a:latin typeface="Aptos" panose="020B0004020202020204" pitchFamily="34" charset="0"/>
              </a:rPr>
              <a:t>6</a:t>
            </a:fld>
            <a:endParaRPr lang="da-DK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78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F7AC-8770-84C8-4BE0-41533921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phylo2vec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86DB-21C6-92AA-A39F-EFB31856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A vector representation for binary (rooted) trees</a:t>
            </a:r>
          </a:p>
          <a:p>
            <a:pPr lvl="1">
              <a:buClr>
                <a:srgbClr val="4B8324"/>
              </a:buClr>
              <a:buFont typeface="Wingdings" panose="05000000000000000000" pitchFamily="2" charset="2"/>
              <a:buChar char="ü"/>
            </a:pPr>
            <a:r>
              <a:rPr lang="en-US" dirty="0"/>
              <a:t>Fast to sample random trees</a:t>
            </a:r>
          </a:p>
          <a:p>
            <a:pPr lvl="1">
              <a:buClr>
                <a:srgbClr val="4B8324"/>
              </a:buClr>
              <a:buFont typeface="Wingdings" panose="05000000000000000000" pitchFamily="2" charset="2"/>
              <a:buChar char="ü"/>
            </a:pPr>
            <a:r>
              <a:rPr lang="en-US" dirty="0"/>
              <a:t>Compressed representation</a:t>
            </a:r>
          </a:p>
          <a:p>
            <a:pPr lvl="1">
              <a:buClr>
                <a:srgbClr val="4B8324"/>
              </a:buClr>
              <a:buFont typeface="Wingdings" panose="05000000000000000000" pitchFamily="2" charset="2"/>
              <a:buChar char="ü"/>
            </a:pPr>
            <a:r>
              <a:rPr lang="en-US" dirty="0"/>
              <a:t>Easy to check that two trees are identical</a:t>
            </a:r>
          </a:p>
          <a:p>
            <a:pPr lvl="1">
              <a:buClr>
                <a:srgbClr val="4B8324"/>
              </a:buClr>
              <a:buFont typeface="Wingdings" panose="05000000000000000000" pitchFamily="2" charset="2"/>
              <a:buChar char="ü"/>
            </a:pPr>
            <a:r>
              <a:rPr lang="en-US" dirty="0"/>
              <a:t>Offers a new heuristic to find the best phylogenetic tree</a:t>
            </a:r>
          </a:p>
          <a:p>
            <a:pPr lvl="1">
              <a:buClr>
                <a:srgbClr val="4B8324"/>
              </a:buClr>
              <a:buFont typeface="Wingdings" panose="05000000000000000000" pitchFamily="2" charset="2"/>
              <a:buChar char="ü"/>
            </a:pPr>
            <a:r>
              <a:rPr lang="en-US" dirty="0"/>
              <a:t>Easy to manipulate (as a NumPy array in Python, a vector in R…)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10307-FC33-D6F4-AFEB-682D0A47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pPr/>
              <a:t>04-01-2026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69349-3D89-DEAD-F796-B9F2095F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89831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E12B-6452-7EF5-B97B-BD26F166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42958-431E-DA1E-4EDC-0013F86D5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963" y="1628775"/>
                <a:ext cx="6518419" cy="4673600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binary rooted tree</a:t>
                </a:r>
                <a:r>
                  <a:rPr lang="en-US" b="1" dirty="0"/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leaves.</a:t>
                </a:r>
              </a:p>
              <a:p>
                <a:r>
                  <a:rPr lang="en-GB" dirty="0"/>
                  <a:t>Each leaf is assigned a unique label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ℓ=0, 1, …,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r>
                  <a:rPr lang="en-GB" dirty="0"/>
                  <a:t>Each internal node is assigned a unique label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ℓ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 root is always labelled 2n-1</a:t>
                </a:r>
              </a:p>
              <a:p>
                <a:r>
                  <a:rPr lang="en-US" dirty="0"/>
                  <a:t>a branch leading to node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labelled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42958-431E-DA1E-4EDC-0013F86D5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963" y="1628775"/>
                <a:ext cx="6518419" cy="4673600"/>
              </a:xfrm>
              <a:blipFill>
                <a:blip r:embed="rId3"/>
                <a:stretch>
                  <a:fillRect l="-2713" t="-19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4247-E291-6050-B6FE-F9EC6CE4A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pPr/>
              <a:t>04-01-2026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C89EA-3429-D5A6-8663-A15EDF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8</a:t>
            </a:fld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337C96-A85A-9871-D3FD-8FC097619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625" y="1628775"/>
            <a:ext cx="5290053" cy="398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1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D65-0F40-BEF0-CFDA-BD5B8B5C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Definition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ptos" panose="020B0004020202020204" pitchFamily="34" charset="0"/>
                  </a:rPr>
                  <a:t>We can summarise the topology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using an integer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>
                    <a:latin typeface="Aptos" panose="020B0004020202020204" pitchFamily="34" charset="0"/>
                  </a:rPr>
                  <a:t> </a:t>
                </a:r>
                <a:r>
                  <a:rPr lang="en-US" dirty="0">
                    <a:latin typeface="Aptos" panose="020B0004020202020204" pitchFamily="34" charset="0"/>
                  </a:rPr>
                  <a:t>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b="1" dirty="0">
                    <a:latin typeface="Aptos" panose="020B0004020202020204" pitchFamily="34" charset="0"/>
                  </a:rPr>
                  <a:t> </a:t>
                </a:r>
                <a:r>
                  <a:rPr lang="en-US" dirty="0">
                    <a:latin typeface="Aptos" panose="020B0004020202020204" pitchFamily="34" charset="0"/>
                  </a:rPr>
                  <a:t>such that:</a:t>
                </a:r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1, …, 2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{1, …,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−1}</m:t>
                      </m:r>
                    </m:oMath>
                  </m:oMathPara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 marL="787380" lvl="1" indent="0">
                  <a:buNone/>
                </a:pPr>
                <a:endParaRPr lang="en-US" dirty="0">
                  <a:latin typeface="Aptos" panose="020B0004020202020204" pitchFamily="34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Properties:</a:t>
                </a:r>
              </a:p>
              <a:p>
                <a:pPr lvl="1"/>
                <a:r>
                  <a:rPr lang="da-DK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For </a:t>
                </a:r>
                <a:r>
                  <a:rPr lang="en-US" noProof="0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every</a:t>
                </a:r>
                <a:r>
                  <a:rPr lang="da-DK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 there is a unique binary tree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 (</a:t>
                </a:r>
                <a:r>
                  <a:rPr lang="en-US" dirty="0">
                    <a:ea typeface="Cambria Math" panose="02040503050406030204" pitchFamily="18" charset="0"/>
                  </a:rPr>
                  <a:t>bijection)</a:t>
                </a:r>
                <a:endParaRPr lang="en-US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Examples:</a:t>
                </a:r>
              </a:p>
              <a:p>
                <a:pPr lvl="1"/>
                <a:r>
                  <a:rPr lang="en-US" dirty="0">
                    <a:solidFill>
                      <a:srgbClr val="00B050"/>
                    </a:solidFill>
                    <a:latin typeface="Aptos" panose="020B0004020202020204" pitchFamily="34" charset="0"/>
                  </a:rPr>
                  <a:t>Valid: [0, 0, 3], [0, 1, 2, 3, 4, 5], [0, 2, 4, 6, 8]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Invalid: [0, 3], [1], [0, 1, 5, 2, 4, 3], []</a:t>
                </a:r>
              </a:p>
              <a:p>
                <a:pPr marL="152396" indent="0">
                  <a:buNone/>
                </a:pPr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606" t="-19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7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D65-0F40-BEF0-CFDA-BD5B8B5C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Converting a vector to a tree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Initial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8964" y="1628775"/>
                <a:ext cx="6641889" cy="4672800"/>
              </a:xfrm>
            </p:spPr>
            <p:txBody>
              <a:bodyPr/>
              <a:lstStyle/>
              <a:p>
                <a:r>
                  <a:rPr lang="en-US" sz="1600" b="1" i="1" dirty="0">
                    <a:solidFill>
                      <a:srgbClr val="C00000"/>
                    </a:solidFill>
                  </a:rPr>
                  <a:t>Note: we will use 1-indexing throughout the presentation!</a:t>
                </a:r>
                <a:endParaRPr lang="en-US" sz="1600" b="1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latin typeface="Aptos" panose="020B0004020202020204" pitchFamily="34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b="1" dirty="0">
                    <a:latin typeface="Aptos" panose="020B0004020202020204" pitchFamily="34" charset="0"/>
                  </a:rPr>
                  <a:t> = [0, 2, 2, 5, 2]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is of size 5, so it is a 6-leaf tree</a:t>
                </a:r>
              </a:p>
              <a:p>
                <a:r>
                  <a:rPr lang="en-US" dirty="0">
                    <a:latin typeface="Aptos" panose="020B0004020202020204" pitchFamily="34" charset="0"/>
                  </a:rPr>
                  <a:t>Step 1: </a:t>
                </a:r>
                <a:r>
                  <a:rPr lang="en-US" b="1" dirty="0">
                    <a:latin typeface="Aptos" panose="020B0004020202020204" pitchFamily="34" charset="0"/>
                  </a:rPr>
                  <a:t>j = 1 =&gt; v[j] = 0</a:t>
                </a:r>
              </a:p>
              <a:p>
                <a:pPr lvl="1"/>
                <a:r>
                  <a:rPr lang="en-US" dirty="0">
                    <a:latin typeface="Aptos" panose="020B0004020202020204" pitchFamily="34" charset="0"/>
                  </a:rPr>
                  <a:t>Nodes:</a:t>
                </a:r>
              </a:p>
              <a:p>
                <a:pPr lvl="2"/>
                <a:r>
                  <a:rPr lang="en-US" dirty="0">
                    <a:latin typeface="Aptos" panose="020B0004020202020204" pitchFamily="34" charset="0"/>
                  </a:rPr>
                  <a:t>Start with a 2-leaf tree. Leaves = </a:t>
                </a:r>
                <a:r>
                  <a:rPr lang="en-US" b="1" dirty="0">
                    <a:solidFill>
                      <a:srgbClr val="009900"/>
                    </a:solidFill>
                    <a:latin typeface="Aptos" panose="020B0004020202020204" pitchFamily="34" charset="0"/>
                  </a:rPr>
                  <a:t>0</a:t>
                </a: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,</a:t>
                </a: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b="1" dirty="0">
                    <a:solidFill>
                      <a:srgbClr val="009900"/>
                    </a:solidFill>
                    <a:latin typeface="Aptos" panose="020B0004020202020204" pitchFamily="34" charset="0"/>
                  </a:rPr>
                  <a:t>1</a:t>
                </a:r>
              </a:p>
              <a:p>
                <a:pPr lvl="2"/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Extra root </a:t>
                </a:r>
                <a:r>
                  <a:rPr lang="en-US" b="1" u="sng" dirty="0">
                    <a:solidFill>
                      <a:srgbClr val="969696"/>
                    </a:solidFill>
                    <a:latin typeface="Aptos" panose="020B0004020202020204" pitchFamily="34" charset="0"/>
                  </a:rPr>
                  <a:t>R</a:t>
                </a:r>
                <a:r>
                  <a:rPr lang="en-US" b="1" dirty="0">
                    <a:solidFill>
                      <a:srgbClr val="BFBFBF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dirty="0">
                    <a:latin typeface="Aptos" panose="020B0004020202020204" pitchFamily="34" charset="0"/>
                  </a:rPr>
                  <a:t>ensures 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possible moves for the next leaf</a:t>
                </a:r>
              </a:p>
              <a:p>
                <a:pPr lvl="1"/>
                <a:r>
                  <a:rPr lang="en-US" dirty="0">
                    <a:latin typeface="Aptos" panose="020B0004020202020204" pitchFamily="34" charset="0"/>
                  </a:rPr>
                  <a:t>Edges:</a:t>
                </a:r>
              </a:p>
              <a:p>
                <a:pPr lvl="2"/>
                <a:r>
                  <a:rPr lang="en-US" dirty="0">
                    <a:latin typeface="Aptos" panose="020B0004020202020204" pitchFamily="34" charset="0"/>
                  </a:rPr>
                  <a:t>Edges that yield leaf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are labelled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lvl="2"/>
                <a:r>
                  <a:rPr lang="en-US" dirty="0">
                    <a:latin typeface="Aptos" panose="020B0004020202020204" pitchFamily="34" charset="0"/>
                  </a:rPr>
                  <a:t>The edge that yields the extra root is always </a:t>
                </a:r>
                <a:r>
                  <a:rPr lang="en-US" b="1" dirty="0">
                    <a:latin typeface="Aptos" panose="020B0004020202020204" pitchFamily="34" charset="0"/>
                  </a:rPr>
                  <a:t>2j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8964" y="1628775"/>
                <a:ext cx="6641889" cy="4672800"/>
              </a:xfrm>
              <a:blipFill>
                <a:blip r:embed="rId3"/>
                <a:stretch>
                  <a:fillRect l="-2663" t="-1304" r="-1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646C360-49BE-46F9-44CD-35E64C3484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890743" y="2216617"/>
            <a:ext cx="3201471" cy="2907937"/>
          </a:xfrm>
        </p:spPr>
      </p:pic>
    </p:spTree>
    <p:extLst>
      <p:ext uri="{BB962C8B-B14F-4D97-AF65-F5344CB8AC3E}">
        <p14:creationId xmlns:p14="http://schemas.microsoft.com/office/powerpoint/2010/main" val="2815062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ptos" panose="020B0004020202020204" pitchFamily="34" charset="0"/>
                  </a:rPr>
                  <a:t>phylo2vec: converting a vector to a tree</a:t>
                </a:r>
                <a:br>
                  <a:rPr lang="en-US" dirty="0">
                    <a:latin typeface="Aptos" panose="020B0004020202020204" pitchFamily="34" charset="0"/>
                  </a:rPr>
                </a:b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dirty="0"/>
                  <a:t> = [0, 2, 2, 5, 2]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59" t="-14085" b="-16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4162-DD98-552A-6786-1B2F9BC3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6"/>
            <a:ext cx="6289411" cy="1266009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Step 2: </a:t>
            </a:r>
            <a:r>
              <a:rPr lang="en-US" b="1" dirty="0">
                <a:latin typeface="Aptos" panose="020B0004020202020204" pitchFamily="34" charset="0"/>
              </a:rPr>
              <a:t>j =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2</a:t>
            </a:r>
            <a:r>
              <a:rPr lang="en-US" b="1" dirty="0">
                <a:latin typeface="Aptos" panose="020B0004020202020204" pitchFamily="34" charset="0"/>
              </a:rPr>
              <a:t> =&gt; v[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2</a:t>
            </a:r>
            <a:r>
              <a:rPr lang="en-US" b="1" dirty="0">
                <a:latin typeface="Aptos" panose="020B0004020202020204" pitchFamily="34" charset="0"/>
              </a:rPr>
              <a:t>] = </a:t>
            </a:r>
            <a:r>
              <a:rPr lang="en-US" b="1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</a:p>
          <a:p>
            <a:pPr marL="817544" lvl="1" indent="-457189"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Split edge </a:t>
            </a:r>
            <a:r>
              <a:rPr lang="en-US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  <a:r>
              <a:rPr lang="en-US" dirty="0">
                <a:latin typeface="Aptos" panose="020B0004020202020204" pitchFamily="34" charset="0"/>
              </a:rPr>
              <a:t>, yield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2 </a:t>
            </a:r>
          </a:p>
          <a:p>
            <a:pPr marL="817544" lvl="1" indent="-457189">
              <a:buAutoNum type="arabicPeriod"/>
            </a:pPr>
            <a:r>
              <a:rPr lang="en-US" dirty="0">
                <a:latin typeface="Aptos" panose="020B0004020202020204" pitchFamily="34" charset="0"/>
              </a:rPr>
              <a:t>Re-label the edges (explained later)</a:t>
            </a:r>
          </a:p>
          <a:p>
            <a:pPr marL="360355" lvl="1" indent="0">
              <a:buNone/>
            </a:pP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AD850-4EC6-EFA8-EE99-B68CEAD60E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70710" y="2894784"/>
            <a:ext cx="1854117" cy="16800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60231E-54A4-7072-6D62-C6F789E878F8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5424827" y="3734784"/>
            <a:ext cx="134234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64E05CDD-F6FF-80DB-2C4F-71C6960E1B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6767175" y="2894784"/>
            <a:ext cx="1935803" cy="1680000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7F43B5F-1B49-09C0-ED2B-7465D4CC51F5}"/>
              </a:ext>
            </a:extLst>
          </p:cNvPr>
          <p:cNvCxnSpPr>
            <a:cxnSpLocks/>
          </p:cNvCxnSpPr>
          <p:nvPr/>
        </p:nvCxnSpPr>
        <p:spPr>
          <a:xfrm>
            <a:off x="3593051" y="3501571"/>
            <a:ext cx="70269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5C4AB7F-41E6-28FB-4262-4E7CC51455D1}"/>
              </a:ext>
            </a:extLst>
          </p:cNvPr>
          <p:cNvSpPr txBox="1"/>
          <p:nvPr/>
        </p:nvSpPr>
        <p:spPr>
          <a:xfrm>
            <a:off x="2610229" y="3395430"/>
            <a:ext cx="982823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219170">
              <a:spcBef>
                <a:spcPct val="0"/>
              </a:spcBef>
            </a:pPr>
            <a:r>
              <a:rPr lang="en-US" sz="1600" dirty="0">
                <a:solidFill>
                  <a:srgbClr val="971B1F"/>
                </a:solidFill>
                <a:latin typeface="Aptos" panose="020B0004020202020204" pitchFamily="34" charset="0"/>
              </a:rPr>
              <a:t>split here</a:t>
            </a:r>
          </a:p>
        </p:txBody>
      </p:sp>
    </p:spTree>
    <p:extLst>
      <p:ext uri="{BB962C8B-B14F-4D97-AF65-F5344CB8AC3E}">
        <p14:creationId xmlns:p14="http://schemas.microsoft.com/office/powerpoint/2010/main" val="276855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ptos" panose="020B0004020202020204" pitchFamily="34" charset="0"/>
                  </a:rPr>
                  <a:t>phylo2vec: converting a vector to a tree</a:t>
                </a:r>
                <a:br>
                  <a:rPr lang="en-US" dirty="0">
                    <a:latin typeface="Aptos" panose="020B0004020202020204" pitchFamily="34" charset="0"/>
                  </a:rPr>
                </a:b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dirty="0"/>
                  <a:t> = [0, 2, 2, 5, 2]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59" t="-14085" b="-16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4162-DD98-552A-6786-1B2F9BC3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4"/>
            <a:ext cx="5356800" cy="4323791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Step 3: </a:t>
            </a:r>
            <a:r>
              <a:rPr lang="en-US" b="1" dirty="0">
                <a:latin typeface="Aptos" panose="020B0004020202020204" pitchFamily="34" charset="0"/>
              </a:rPr>
              <a:t>j =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3</a:t>
            </a:r>
            <a:r>
              <a:rPr lang="en-US" b="1" dirty="0">
                <a:latin typeface="Aptos" panose="020B0004020202020204" pitchFamily="34" charset="0"/>
              </a:rPr>
              <a:t> =&gt; v[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3</a:t>
            </a:r>
            <a:r>
              <a:rPr lang="en-US" b="1" dirty="0">
                <a:latin typeface="Aptos" panose="020B0004020202020204" pitchFamily="34" charset="0"/>
              </a:rPr>
              <a:t>] = </a:t>
            </a:r>
            <a:r>
              <a:rPr lang="en-US" b="1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Split edge </a:t>
            </a:r>
            <a:r>
              <a:rPr lang="en-US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  <a:r>
              <a:rPr lang="en-US" dirty="0">
                <a:latin typeface="Aptos" panose="020B0004020202020204" pitchFamily="34" charset="0"/>
              </a:rPr>
              <a:t>, yield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3</a:t>
            </a: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Step 4: </a:t>
            </a:r>
            <a:r>
              <a:rPr lang="en-US" b="1" dirty="0">
                <a:latin typeface="Aptos" panose="020B0004020202020204" pitchFamily="34" charset="0"/>
              </a:rPr>
              <a:t>j =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4</a:t>
            </a:r>
            <a:r>
              <a:rPr lang="en-US" b="1" dirty="0">
                <a:latin typeface="Aptos" panose="020B0004020202020204" pitchFamily="34" charset="0"/>
              </a:rPr>
              <a:t> =&gt; v[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4</a:t>
            </a:r>
            <a:r>
              <a:rPr lang="en-US" b="1" dirty="0">
                <a:latin typeface="Aptos" panose="020B0004020202020204" pitchFamily="34" charset="0"/>
              </a:rPr>
              <a:t>] = </a:t>
            </a:r>
            <a:r>
              <a:rPr lang="en-US" b="1" dirty="0">
                <a:solidFill>
                  <a:srgbClr val="7030A0"/>
                </a:solidFill>
                <a:latin typeface="Aptos" panose="020B0004020202020204" pitchFamily="34" charset="0"/>
              </a:rPr>
              <a:t>5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Split edge </a:t>
            </a:r>
            <a:r>
              <a:rPr lang="en-US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  <a:r>
              <a:rPr lang="en-US" dirty="0">
                <a:latin typeface="Aptos" panose="020B0004020202020204" pitchFamily="34" charset="0"/>
              </a:rPr>
              <a:t>, yield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3</a:t>
            </a: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marL="360355" lvl="1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6EBB48E-CDEA-FFDB-8A31-C7F968BD95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85226" y="2478851"/>
            <a:ext cx="1854117" cy="1612613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5CCB07-B4FF-6BC9-C96E-21284AA7E262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7039343" y="3285157"/>
            <a:ext cx="132042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02C0F3-C456-83F0-C331-A8321BCF4531}"/>
              </a:ext>
            </a:extLst>
          </p:cNvPr>
          <p:cNvCxnSpPr>
            <a:cxnSpLocks/>
          </p:cNvCxnSpPr>
          <p:nvPr/>
        </p:nvCxnSpPr>
        <p:spPr>
          <a:xfrm>
            <a:off x="8716791" y="3375896"/>
            <a:ext cx="108094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2067B0E6-A624-8FBA-42D8-48570A27B0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rcRect/>
          <a:stretch/>
        </p:blipFill>
        <p:spPr>
          <a:xfrm>
            <a:off x="8359765" y="2445157"/>
            <a:ext cx="1935803" cy="16800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7A929FC-C711-41F7-12C3-6091607859E9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5971650" y="3688551"/>
            <a:ext cx="505423" cy="7658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963454-BCB6-BED6-57A4-4EC356064308}"/>
              </a:ext>
            </a:extLst>
          </p:cNvPr>
          <p:cNvSpPr txBox="1"/>
          <p:nvPr/>
        </p:nvSpPr>
        <p:spPr>
          <a:xfrm>
            <a:off x="5480238" y="4454446"/>
            <a:ext cx="982823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219170">
              <a:spcBef>
                <a:spcPct val="0"/>
              </a:spcBef>
            </a:pPr>
            <a:r>
              <a:rPr lang="en-US" sz="1600" dirty="0">
                <a:solidFill>
                  <a:srgbClr val="971B1F"/>
                </a:solidFill>
                <a:latin typeface="Aptos" panose="020B0004020202020204" pitchFamily="34" charset="0"/>
              </a:rPr>
              <a:t>split here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7BB99A-BC33-00B5-8DD4-9D465E0993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47186" y="4746196"/>
            <a:ext cx="1854117" cy="1604824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9B0BE4-13E4-F3A8-848C-EF7B808B1AB0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>
            <a:off x="7001303" y="5548608"/>
            <a:ext cx="1624208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Content Placeholder 25">
            <a:extLst>
              <a:ext uri="{FF2B5EF4-FFF2-40B4-BE49-F238E27FC236}">
                <a16:creationId xmlns:a16="http://schemas.microsoft.com/office/drawing/2014/main" id="{0087ABEC-4A42-D4A8-95C3-EFD63E70E0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25511" y="4832832"/>
            <a:ext cx="2181651" cy="1431553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3A044D9-D2C8-697D-94A5-DDF81796AE56}"/>
              </a:ext>
            </a:extLst>
          </p:cNvPr>
          <p:cNvCxnSpPr>
            <a:cxnSpLocks/>
          </p:cNvCxnSpPr>
          <p:nvPr/>
        </p:nvCxnSpPr>
        <p:spPr>
          <a:xfrm flipH="1" flipV="1">
            <a:off x="5880370" y="5490015"/>
            <a:ext cx="287348" cy="100806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63034F5-DBF9-FE47-33A8-23250906F2A1}"/>
              </a:ext>
            </a:extLst>
          </p:cNvPr>
          <p:cNvSpPr txBox="1"/>
          <p:nvPr/>
        </p:nvSpPr>
        <p:spPr>
          <a:xfrm>
            <a:off x="5676306" y="6498077"/>
            <a:ext cx="982823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219170">
              <a:spcBef>
                <a:spcPct val="0"/>
              </a:spcBef>
            </a:pPr>
            <a:r>
              <a:rPr lang="en-US" sz="1600" dirty="0">
                <a:solidFill>
                  <a:srgbClr val="971B1F"/>
                </a:solidFill>
                <a:latin typeface="Aptos" panose="020B0004020202020204" pitchFamily="34" charset="0"/>
              </a:rPr>
              <a:t>split here</a:t>
            </a:r>
          </a:p>
        </p:txBody>
      </p:sp>
    </p:spTree>
    <p:extLst>
      <p:ext uri="{BB962C8B-B14F-4D97-AF65-F5344CB8AC3E}">
        <p14:creationId xmlns:p14="http://schemas.microsoft.com/office/powerpoint/2010/main" val="169831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Aptos" panose="020B0004020202020204" pitchFamily="34" charset="0"/>
                  </a:rPr>
                  <a:t>phylo2vec: converting a vector to a tree</a:t>
                </a:r>
                <a:br>
                  <a:rPr lang="en-US" dirty="0">
                    <a:latin typeface="Aptos" panose="020B0004020202020204" pitchFamily="34" charset="0"/>
                  </a:rPr>
                </a:br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400" b="1" dirty="0"/>
                  <a:t> = [0, 2, 2, 5, 2]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9CED65-0F40-BEF0-CFDA-BD5B8B5C75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159" t="-14085" b="-16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4162-DD98-552A-6786-1B2F9BC3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4"/>
            <a:ext cx="5356800" cy="4323791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Step 5: </a:t>
            </a:r>
            <a:r>
              <a:rPr lang="en-US" b="1" dirty="0">
                <a:latin typeface="Aptos" panose="020B0004020202020204" pitchFamily="34" charset="0"/>
              </a:rPr>
              <a:t>j =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5</a:t>
            </a:r>
            <a:r>
              <a:rPr lang="en-US" b="1" dirty="0">
                <a:latin typeface="Aptos" panose="020B0004020202020204" pitchFamily="34" charset="0"/>
              </a:rPr>
              <a:t> =&gt; v[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5</a:t>
            </a:r>
            <a:r>
              <a:rPr lang="en-US" b="1" dirty="0">
                <a:latin typeface="Aptos" panose="020B0004020202020204" pitchFamily="34" charset="0"/>
              </a:rPr>
              <a:t>] = </a:t>
            </a:r>
            <a:r>
              <a:rPr lang="en-US" b="1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Split edge </a:t>
            </a:r>
            <a:r>
              <a:rPr lang="en-US" dirty="0">
                <a:solidFill>
                  <a:srgbClr val="7030A0"/>
                </a:solidFill>
                <a:latin typeface="Aptos" panose="020B0004020202020204" pitchFamily="34" charset="0"/>
              </a:rPr>
              <a:t>2</a:t>
            </a:r>
            <a:r>
              <a:rPr lang="en-US" dirty="0">
                <a:latin typeface="Aptos" panose="020B0004020202020204" pitchFamily="34" charset="0"/>
              </a:rPr>
              <a:t>, yield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5</a:t>
            </a: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Final step:</a:t>
            </a:r>
            <a:endParaRPr lang="en-US" b="1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  <a:p>
            <a:pPr lvl="1"/>
            <a:r>
              <a:rPr lang="en-US" dirty="0">
                <a:latin typeface="Aptos" panose="020B0004020202020204" pitchFamily="34" charset="0"/>
              </a:rPr>
              <a:t>Remove the extra root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Name the internal nodes</a:t>
            </a:r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marL="360355" lvl="1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6EBB48E-CDEA-FFDB-8A31-C7F968BD95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7379" y="2448995"/>
            <a:ext cx="2567728" cy="1680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5CCB07-B4FF-6BC9-C96E-21284AA7E262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V="1">
            <a:off x="7095107" y="3277056"/>
            <a:ext cx="1138140" cy="119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2067B0E6-A624-8FBA-42D8-48570A27B0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rcRect/>
          <a:stretch/>
        </p:blipFill>
        <p:spPr>
          <a:xfrm>
            <a:off x="8233247" y="2437056"/>
            <a:ext cx="2726515" cy="16800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7A929FC-C711-41F7-12C3-6091607859E9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558057" y="3666806"/>
            <a:ext cx="190377" cy="6661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E963454-BCB6-BED6-57A4-4EC356064308}"/>
              </a:ext>
            </a:extLst>
          </p:cNvPr>
          <p:cNvSpPr txBox="1"/>
          <p:nvPr/>
        </p:nvSpPr>
        <p:spPr>
          <a:xfrm>
            <a:off x="6066645" y="4332981"/>
            <a:ext cx="982823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219170">
              <a:spcBef>
                <a:spcPct val="0"/>
              </a:spcBef>
            </a:pPr>
            <a:r>
              <a:rPr lang="en-US" sz="1600" dirty="0">
                <a:solidFill>
                  <a:srgbClr val="971B1F"/>
                </a:solidFill>
                <a:latin typeface="Aptos" panose="020B0004020202020204" pitchFamily="34" charset="0"/>
              </a:rPr>
              <a:t>split here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7BB99A-BC33-00B5-8DD4-9D465E0993F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7379" y="4708608"/>
            <a:ext cx="2718843" cy="1680000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99B0BE4-13E4-F3A8-848C-EF7B808B1AB0}"/>
              </a:ext>
            </a:extLst>
          </p:cNvPr>
          <p:cNvCxnSpPr>
            <a:cxnSpLocks/>
            <a:stCxn id="38" idx="3"/>
            <a:endCxn id="41" idx="1"/>
          </p:cNvCxnSpPr>
          <p:nvPr/>
        </p:nvCxnSpPr>
        <p:spPr>
          <a:xfrm>
            <a:off x="7246221" y="5548608"/>
            <a:ext cx="74658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Content Placeholder 25">
            <a:extLst>
              <a:ext uri="{FF2B5EF4-FFF2-40B4-BE49-F238E27FC236}">
                <a16:creationId xmlns:a16="http://schemas.microsoft.com/office/drawing/2014/main" id="{0087ABEC-4A42-D4A8-95C3-EFD63E70E0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92808" y="4708608"/>
            <a:ext cx="3608643" cy="1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7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D65-0F40-BEF0-CFDA-BD5B8B5C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converting a vector to a tree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Renaming the branches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8964" y="1628774"/>
                <a:ext cx="5356800" cy="4323791"/>
              </a:xfrm>
            </p:spPr>
            <p:txBody>
              <a:bodyPr/>
              <a:lstStyle/>
              <a:p>
                <a:r>
                  <a:rPr lang="en-US" dirty="0">
                    <a:latin typeface="Aptos" panose="020B0004020202020204" pitchFamily="34" charset="0"/>
                  </a:rPr>
                  <a:t>Step 1:</a:t>
                </a:r>
                <a:r>
                  <a:rPr lang="en-US" b="1" dirty="0">
                    <a:latin typeface="Aptos" panose="020B0004020202020204" pitchFamily="34" charset="0"/>
                  </a:rPr>
                  <a:t> </a:t>
                </a:r>
                <a:r>
                  <a:rPr lang="en-US" dirty="0">
                    <a:latin typeface="Aptos" panose="020B0004020202020204" pitchFamily="34" charset="0"/>
                  </a:rPr>
                  <a:t>leaf edges &amp; extra root</a:t>
                </a:r>
              </a:p>
              <a:p>
                <a:pPr lvl="1"/>
                <a:r>
                  <a:rPr lang="en-US" dirty="0">
                    <a:latin typeface="Aptos" panose="020B0004020202020204" pitchFamily="34" charset="0"/>
                  </a:rPr>
                  <a:t>Edges that yield leaf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are labelled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pPr lvl="1"/>
                <a:r>
                  <a:rPr lang="en-US" dirty="0">
                    <a:latin typeface="Aptos" panose="020B0004020202020204" pitchFamily="34" charset="0"/>
                  </a:rPr>
                  <a:t>The edge that yields the extra root is always </a:t>
                </a:r>
                <a:r>
                  <a:rPr lang="en-US" b="1" dirty="0">
                    <a:latin typeface="Aptos" panose="020B0004020202020204" pitchFamily="34" charset="0"/>
                  </a:rPr>
                  <a:t>2j</a:t>
                </a: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b="1" dirty="0">
                  <a:solidFill>
                    <a:srgbClr val="009900"/>
                  </a:solidFill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marL="360355" lvl="1" indent="0">
                  <a:buNone/>
                </a:pPr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  <a:p>
                <a:pPr lvl="1"/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6FA4162-DD98-552A-6786-1B2F9BC31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8964" y="1628774"/>
                <a:ext cx="5356800" cy="4323791"/>
              </a:xfrm>
              <a:blipFill>
                <a:blip r:embed="rId3"/>
                <a:stretch>
                  <a:fillRect l="-3303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80A691-3E08-B8E4-8790-CE5C0FFE74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979661" y="3213895"/>
            <a:ext cx="4064865" cy="2400000"/>
          </a:xfrm>
        </p:spPr>
      </p:pic>
    </p:spTree>
    <p:extLst>
      <p:ext uri="{BB962C8B-B14F-4D97-AF65-F5344CB8AC3E}">
        <p14:creationId xmlns:p14="http://schemas.microsoft.com/office/powerpoint/2010/main" val="427420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D65-0F40-BEF0-CFDA-BD5B8B5C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converting a vector to a tree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Renaming the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4162-DD98-552A-6786-1B2F9BC3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4"/>
            <a:ext cx="5683003" cy="4323791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Step </a:t>
            </a:r>
            <a:r>
              <a:rPr lang="en-US" dirty="0"/>
              <a:t>2</a:t>
            </a:r>
            <a:endParaRPr lang="en-US" dirty="0">
              <a:latin typeface="Aptos" panose="020B0004020202020204" pitchFamily="34" charset="0"/>
            </a:endParaRPr>
          </a:p>
          <a:p>
            <a:pPr lvl="1"/>
            <a:r>
              <a:rPr lang="en-US" dirty="0">
                <a:latin typeface="Aptos" panose="020B0004020202020204" pitchFamily="34" charset="0"/>
              </a:rPr>
              <a:t>Two cherries: 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</a:rPr>
              <a:t>(0,1) </a:t>
            </a:r>
            <a:r>
              <a:rPr lang="en-US" dirty="0">
                <a:latin typeface="Aptos" panose="020B0004020202020204" pitchFamily="34" charset="0"/>
              </a:rPr>
              <a:t>and 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</a:rPr>
              <a:t>(3,2)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Find the cherry with the highest label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(3)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Label its parent branch as </a:t>
            </a:r>
            <a:r>
              <a:rPr lang="en-US" b="1" dirty="0">
                <a:latin typeface="Aptos" panose="020B0004020202020204" pitchFamily="34" charset="0"/>
              </a:rPr>
              <a:t>7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Prune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3</a:t>
            </a: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marL="360355" lvl="1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80A691-3E08-B8E4-8790-CE5C0FFE74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7297895" y="1390668"/>
            <a:ext cx="3658379" cy="21600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0004FD-AD52-65CD-0C8E-B01E25E711A3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>
          <a:xfrm>
            <a:off x="9127084" y="3550668"/>
            <a:ext cx="0" cy="83666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B8756DD-20B3-9757-CF61-34C103213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167" y="4387332"/>
            <a:ext cx="3817835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11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D65-0F40-BEF0-CFDA-BD5B8B5C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converting a vector to a tree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Renaming the branches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A4162-DD98-552A-6786-1B2F9BC31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4"/>
            <a:ext cx="5683003" cy="4323791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Step 2 (continued)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One cherry: </a:t>
            </a:r>
            <a:r>
              <a:rPr lang="en-US" b="1" dirty="0">
                <a:solidFill>
                  <a:srgbClr val="00B050"/>
                </a:solidFill>
                <a:latin typeface="Aptos" panose="020B0004020202020204" pitchFamily="34" charset="0"/>
              </a:rPr>
              <a:t>(0,1)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Label its parent branch as </a:t>
            </a:r>
            <a:r>
              <a:rPr lang="en-US" b="1" dirty="0">
                <a:latin typeface="Aptos" panose="020B0004020202020204" pitchFamily="34" charset="0"/>
              </a:rPr>
              <a:t>8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Prune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1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Final step: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One cherry: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(0, 4)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Label its parent branch as 9</a:t>
            </a:r>
            <a:endParaRPr lang="en-US" b="1" dirty="0">
              <a:latin typeface="Aptos" panose="020B0004020202020204" pitchFamily="34" charset="0"/>
            </a:endParaRPr>
          </a:p>
          <a:p>
            <a:pPr lvl="1"/>
            <a:r>
              <a:rPr lang="en-US" dirty="0">
                <a:latin typeface="Aptos" panose="020B0004020202020204" pitchFamily="34" charset="0"/>
              </a:rPr>
              <a:t>Prune leaf </a:t>
            </a:r>
            <a:r>
              <a:rPr lang="en-US" b="1" dirty="0">
                <a:solidFill>
                  <a:srgbClr val="009900"/>
                </a:solidFill>
                <a:latin typeface="Aptos" panose="020B0004020202020204" pitchFamily="34" charset="0"/>
              </a:rPr>
              <a:t>4</a:t>
            </a:r>
          </a:p>
          <a:p>
            <a:pPr lvl="1"/>
            <a:endParaRPr lang="en-US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b="1" dirty="0">
              <a:solidFill>
                <a:srgbClr val="009900"/>
              </a:solidFill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marL="360355" lvl="1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80A691-3E08-B8E4-8790-CE5C0FFE74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7288331" y="1452219"/>
            <a:ext cx="2438919" cy="144000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0004FD-AD52-65CD-0C8E-B01E25E711A3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8507791" y="2892219"/>
            <a:ext cx="0" cy="47393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49A575A-325C-AC7E-7975-1F84E4D9E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640" y="3366153"/>
            <a:ext cx="2496301" cy="14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E7FB0A-2E96-BE56-41D1-6928F0370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27" y="5246407"/>
            <a:ext cx="2577325" cy="14400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7FD5C6-9964-E1AD-9835-624E81BE0D3F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flipH="1">
            <a:off x="8507790" y="4806154"/>
            <a:ext cx="1" cy="44025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232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75D1-C86D-1102-B01F-65E50EB4D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F0D4-6FD5-3F31-A2EB-7294A11C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 a vector to a tree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474D-1089-A4DF-82EE-6D37BEC15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5"/>
            <a:ext cx="10555123" cy="4672800"/>
          </a:xfrm>
        </p:spPr>
        <p:txBody>
          <a:bodyPr/>
          <a:lstStyle/>
          <a:p>
            <a:r>
              <a:rPr lang="en-US" dirty="0"/>
              <a:t>Algorithm (general idea)</a:t>
            </a:r>
          </a:p>
          <a:p>
            <a:pPr lvl="1"/>
            <a:r>
              <a:rPr lang="en-US" dirty="0"/>
              <a:t>Build an (post)ordered traversal of a tree through a list of pairs of nodes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Form a Newick string from the pair list</a:t>
            </a:r>
            <a:endParaRPr lang="en-US" dirty="0"/>
          </a:p>
          <a:p>
            <a:r>
              <a:rPr lang="en-US" dirty="0"/>
              <a:t>Complexity: O(n log n)</a:t>
            </a:r>
          </a:p>
          <a:p>
            <a:pPr lvl="1"/>
            <a:r>
              <a:rPr lang="en-US" dirty="0"/>
              <a:t>Using AVL trees for fast(er) insertions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1D074-5C47-008B-E5D0-B7DBC86E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3AF8C-07E5-F969-3F99-518C256B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2591C-4958-63DD-96C9-E45B1FE9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1765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DFF1-6BB1-76F1-15D1-A849E3AF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 a tree to a vector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Example: (((0,2)4,1)5,3)6;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6CEC-3024-D3DA-D662-C68DBB91E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 leaf: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3878B-C8F0-D4B2-6CE1-CB282F32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57B1B-6FE1-BAA1-2DE8-4EEBD254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5A3A-D1F2-FBE6-F1E1-3CD40DCA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18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7FE94-4490-500A-3464-D134B694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40" y="1628775"/>
            <a:ext cx="2961449" cy="1955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0AC8C8-69BC-610B-03BD-1D5C0C730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153" y="4302052"/>
            <a:ext cx="9432500" cy="2142397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38DC32-811B-5D02-DCC7-FA9D4EAB683F}"/>
              </a:ext>
            </a:extLst>
          </p:cNvPr>
          <p:cNvSpPr/>
          <p:nvPr/>
        </p:nvSpPr>
        <p:spPr>
          <a:xfrm>
            <a:off x="3217682" y="3481634"/>
            <a:ext cx="404452" cy="2425831"/>
          </a:xfrm>
          <a:custGeom>
            <a:avLst/>
            <a:gdLst>
              <a:gd name="connsiteX0" fmla="*/ 131975 w 303339"/>
              <a:gd name="connsiteY0" fmla="*/ 0 h 1819373"/>
              <a:gd name="connsiteX1" fmla="*/ 282804 w 303339"/>
              <a:gd name="connsiteY1" fmla="*/ 735290 h 1819373"/>
              <a:gd name="connsiteX2" fmla="*/ 273377 w 303339"/>
              <a:gd name="connsiteY2" fmla="*/ 1291472 h 1819373"/>
              <a:gd name="connsiteX3" fmla="*/ 245097 w 303339"/>
              <a:gd name="connsiteY3" fmla="*/ 1451728 h 1819373"/>
              <a:gd name="connsiteX4" fmla="*/ 226243 w 303339"/>
              <a:gd name="connsiteY4" fmla="*/ 1517715 h 1819373"/>
              <a:gd name="connsiteX5" fmla="*/ 179109 w 303339"/>
              <a:gd name="connsiteY5" fmla="*/ 1593130 h 1819373"/>
              <a:gd name="connsiteX6" fmla="*/ 65988 w 303339"/>
              <a:gd name="connsiteY6" fmla="*/ 1734532 h 1819373"/>
              <a:gd name="connsiteX7" fmla="*/ 0 w 303339"/>
              <a:gd name="connsiteY7" fmla="*/ 1819373 h 1819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339" h="1819373">
                <a:moveTo>
                  <a:pt x="131975" y="0"/>
                </a:moveTo>
                <a:cubicBezTo>
                  <a:pt x="248523" y="603931"/>
                  <a:pt x="193419" y="359874"/>
                  <a:pt x="282804" y="735290"/>
                </a:cubicBezTo>
                <a:cubicBezTo>
                  <a:pt x="315491" y="1029466"/>
                  <a:pt x="306793" y="857056"/>
                  <a:pt x="273377" y="1291472"/>
                </a:cubicBezTo>
                <a:cubicBezTo>
                  <a:pt x="263118" y="1424842"/>
                  <a:pt x="274374" y="1356582"/>
                  <a:pt x="245097" y="1451728"/>
                </a:cubicBezTo>
                <a:cubicBezTo>
                  <a:pt x="238369" y="1473592"/>
                  <a:pt x="235917" y="1496985"/>
                  <a:pt x="226243" y="1517715"/>
                </a:cubicBezTo>
                <a:cubicBezTo>
                  <a:pt x="213707" y="1544578"/>
                  <a:pt x="196729" y="1569291"/>
                  <a:pt x="179109" y="1593130"/>
                </a:cubicBezTo>
                <a:cubicBezTo>
                  <a:pt x="143231" y="1641671"/>
                  <a:pt x="103967" y="1687617"/>
                  <a:pt x="65988" y="1734532"/>
                </a:cubicBezTo>
                <a:cubicBezTo>
                  <a:pt x="4347" y="1810677"/>
                  <a:pt x="35816" y="1765650"/>
                  <a:pt x="0" y="1819373"/>
                </a:cubicBezTo>
              </a:path>
            </a:pathLst>
          </a:cu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081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DFF1-6BB1-76F1-15D1-A849E3AF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 a tree to a vector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Example: (((0,2)4,1)5,3)6;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6CEC-3024-D3DA-D662-C68DBB91E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 leaf: 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3878B-C8F0-D4B2-6CE1-CB282F32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57B1B-6FE1-BAA1-2DE8-4EEBD254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5A3A-D1F2-FBE6-F1E1-3CD40DCA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19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7FE94-4490-500A-3464-D134B694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40" y="1628775"/>
            <a:ext cx="2961449" cy="1955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6A90FF-F18B-0DCE-44FF-86E20DDAF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8985" y="4293148"/>
            <a:ext cx="7074031" cy="215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6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DFF1-6BB1-76F1-15D1-A849E3AF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 a tree to a vector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Example: (((0,2)4,1)5,3)6;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6CEC-3024-D3DA-D662-C68DBB91E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Input: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 leaf: 3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3878B-C8F0-D4B2-6CE1-CB282F32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57B1B-6FE1-BAA1-2DE8-4EEBD254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5A3A-D1F2-FBE6-F1E1-3CD40DCA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20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C7FE94-4490-500A-3464-D134B694A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040" y="1628775"/>
            <a:ext cx="2961449" cy="1955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0130F0-2AFE-7071-989B-345C4488A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658" y="4223313"/>
            <a:ext cx="9950837" cy="2160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8DBE57-4A04-A8CA-F583-197EB7B02EBD}"/>
              </a:ext>
            </a:extLst>
          </p:cNvPr>
          <p:cNvSpPr/>
          <p:nvPr/>
        </p:nvSpPr>
        <p:spPr>
          <a:xfrm>
            <a:off x="3594755" y="3443925"/>
            <a:ext cx="1131216" cy="1924120"/>
          </a:xfrm>
          <a:custGeom>
            <a:avLst/>
            <a:gdLst>
              <a:gd name="connsiteX0" fmla="*/ 848412 w 848412"/>
              <a:gd name="connsiteY0" fmla="*/ 0 h 1443090"/>
              <a:gd name="connsiteX1" fmla="*/ 377072 w 848412"/>
              <a:gd name="connsiteY1" fmla="*/ 1187778 h 1443090"/>
              <a:gd name="connsiteX2" fmla="*/ 169682 w 848412"/>
              <a:gd name="connsiteY2" fmla="*/ 1385741 h 1443090"/>
              <a:gd name="connsiteX3" fmla="*/ 141402 w 848412"/>
              <a:gd name="connsiteY3" fmla="*/ 1395167 h 1443090"/>
              <a:gd name="connsiteX4" fmla="*/ 37707 w 848412"/>
              <a:gd name="connsiteY4" fmla="*/ 1442301 h 1443090"/>
              <a:gd name="connsiteX5" fmla="*/ 0 w 848412"/>
              <a:gd name="connsiteY5" fmla="*/ 1442301 h 144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8412" h="1443090">
                <a:moveTo>
                  <a:pt x="848412" y="0"/>
                </a:moveTo>
                <a:cubicBezTo>
                  <a:pt x="685304" y="641559"/>
                  <a:pt x="749862" y="566462"/>
                  <a:pt x="377072" y="1187778"/>
                </a:cubicBezTo>
                <a:cubicBezTo>
                  <a:pt x="305569" y="1306949"/>
                  <a:pt x="267932" y="1342074"/>
                  <a:pt x="169682" y="1385741"/>
                </a:cubicBezTo>
                <a:cubicBezTo>
                  <a:pt x="160602" y="1389777"/>
                  <a:pt x="150448" y="1391055"/>
                  <a:pt x="141402" y="1395167"/>
                </a:cubicBezTo>
                <a:cubicBezTo>
                  <a:pt x="139757" y="1395915"/>
                  <a:pt x="63427" y="1438627"/>
                  <a:pt x="37707" y="1442301"/>
                </a:cubicBezTo>
                <a:cubicBezTo>
                  <a:pt x="25264" y="1444078"/>
                  <a:pt x="12569" y="1442301"/>
                  <a:pt x="0" y="1442301"/>
                </a:cubicBezTo>
              </a:path>
            </a:pathLst>
          </a:cu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83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CD9-50CD-3353-EF96-994D15F7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FEBB-BD82-A289-8EC1-436BC4E2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phylo2vec: convert a tree to a vector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sz="2400" dirty="0"/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21DDD-72C7-BF86-AED9-6DE5FEAFB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4" y="1628775"/>
            <a:ext cx="10555123" cy="4672800"/>
          </a:xfrm>
        </p:spPr>
        <p:txBody>
          <a:bodyPr/>
          <a:lstStyle/>
          <a:p>
            <a:r>
              <a:rPr lang="en-US" dirty="0"/>
              <a:t>Algorithm (general idea)</a:t>
            </a:r>
          </a:p>
          <a:p>
            <a:pPr lvl="1"/>
            <a:r>
              <a:rPr lang="en-US" dirty="0"/>
              <a:t>Find cherries from the Newick string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Reorder them to form an ordered tree traversal to find the vector</a:t>
            </a:r>
            <a:endParaRPr lang="en-US" dirty="0"/>
          </a:p>
          <a:p>
            <a:r>
              <a:rPr lang="en-US" dirty="0"/>
              <a:t>Complexity: O(n log n) </a:t>
            </a:r>
          </a:p>
          <a:p>
            <a:pPr lvl="1"/>
            <a:r>
              <a:rPr lang="en-US" dirty="0"/>
              <a:t>Using Fenwick trees for fast computing of cumulative sums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0D9D8-633B-735A-592D-E33D98F0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B0C2E-0535-DF95-48BE-0F329078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9B1C3-ABB0-607C-801C-2F99777F6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222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DFF1-6BB1-76F1-15D1-A849E3AF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Software</a:t>
            </a:r>
            <a:endParaRPr lang="en-US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829E9F-65A6-BE07-5150-E3905A493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8963" y="1628775"/>
            <a:ext cx="6199764" cy="4672800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  <a:hlinkClick r:id="rId3"/>
              </a:rPr>
              <a:t>https://github.com/sbhattlab/phylo2vec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Core in Rust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Fast, type-safe + memory-safe, portable</a:t>
            </a:r>
          </a:p>
          <a:p>
            <a:r>
              <a:rPr lang="en-US" dirty="0">
                <a:latin typeface="Aptos" panose="020B0004020202020204" pitchFamily="34" charset="0"/>
              </a:rPr>
              <a:t>Bindings in Python and R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CI/CD with GitHub Actions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Package management using </a:t>
            </a:r>
            <a:r>
              <a:rPr lang="en-US" dirty="0" err="1"/>
              <a:t>pixi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Benchmarking and testing using </a:t>
            </a:r>
            <a:r>
              <a:rPr lang="en-US" dirty="0" err="1">
                <a:latin typeface="Aptos" panose="020B0004020202020204" pitchFamily="34" charset="0"/>
              </a:rPr>
              <a:t>pytest</a:t>
            </a:r>
            <a:endParaRPr lang="en-US" dirty="0">
              <a:latin typeface="Aptos" panose="020B0004020202020204" pitchFamily="34" charset="0"/>
            </a:endParaRPr>
          </a:p>
          <a:p>
            <a:pPr marL="719982" lvl="2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3878B-C8F0-D4B2-6CE1-CB282F32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5A3A-D1F2-FBE6-F1E1-3CD40DCAC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22</a:t>
            </a:fld>
            <a:endParaRPr lang="en-GB" dirty="0"/>
          </a:p>
        </p:txBody>
      </p:sp>
      <p:pic>
        <p:nvPicPr>
          <p:cNvPr id="1026" name="Picture 2" descr="Rust (programming language) - Wikipedia">
            <a:extLst>
              <a:ext uri="{FF2B5EF4-FFF2-40B4-BE49-F238E27FC236}">
                <a16:creationId xmlns:a16="http://schemas.microsoft.com/office/drawing/2014/main" id="{CEB5988F-9BB5-92AC-198A-4362823D252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206" y="1935432"/>
            <a:ext cx="865187" cy="86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Actions documentation - GitHub Docs">
            <a:extLst>
              <a:ext uri="{FF2B5EF4-FFF2-40B4-BE49-F238E27FC236}">
                <a16:creationId xmlns:a16="http://schemas.microsoft.com/office/drawing/2014/main" id="{9508F8D7-B84D-644D-8D73-D7570B163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445" y="3898240"/>
            <a:ext cx="1051810" cy="105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utoShape 6" descr="Home">
            <a:extLst>
              <a:ext uri="{FF2B5EF4-FFF2-40B4-BE49-F238E27FC236}">
                <a16:creationId xmlns:a16="http://schemas.microsoft.com/office/drawing/2014/main" id="{C4D64413-BEC9-B015-2402-9986213BB6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174E80-85E1-2969-5E30-10E8AE93D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894" y="5046657"/>
            <a:ext cx="1051810" cy="922135"/>
          </a:xfrm>
          <a:prstGeom prst="rect">
            <a:avLst/>
          </a:prstGeom>
        </p:spPr>
      </p:pic>
      <p:pic>
        <p:nvPicPr>
          <p:cNvPr id="1032" name="Picture 8" descr="Python (programming language) - Wikipedia">
            <a:extLst>
              <a:ext uri="{FF2B5EF4-FFF2-40B4-BE49-F238E27FC236}">
                <a16:creationId xmlns:a16="http://schemas.microsoft.com/office/drawing/2014/main" id="{96F2ED7B-2808-BBCD-068D-887DCC378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206" y="2936446"/>
            <a:ext cx="865187" cy="865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 (programming language) - Wikipedia">
            <a:extLst>
              <a:ext uri="{FF2B5EF4-FFF2-40B4-BE49-F238E27FC236}">
                <a16:creationId xmlns:a16="http://schemas.microsoft.com/office/drawing/2014/main" id="{945E16EA-B838-AF11-E683-A27A09C0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388" y="2936446"/>
            <a:ext cx="11148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utoShape 12" descr="pytest - Wikipedia">
            <a:extLst>
              <a:ext uri="{FF2B5EF4-FFF2-40B4-BE49-F238E27FC236}">
                <a16:creationId xmlns:a16="http://schemas.microsoft.com/office/drawing/2014/main" id="{FFA394CB-161D-3B08-7DB7-A9BC66C7A0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8" name="Picture 14" descr="pytest - Wikipedia">
            <a:extLst>
              <a:ext uri="{FF2B5EF4-FFF2-40B4-BE49-F238E27FC236}">
                <a16:creationId xmlns:a16="http://schemas.microsoft.com/office/drawing/2014/main" id="{50C24533-EC70-3826-4192-688C2EB8D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350" y="5968792"/>
            <a:ext cx="864000" cy="8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34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BD4A-7975-9235-3C92-0208A461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can (currently)</a:t>
            </a:r>
            <a:br>
              <a:rPr lang="en-GB" dirty="0"/>
            </a:br>
            <a:r>
              <a:rPr lang="en-GB" dirty="0"/>
              <a:t>do with phylo2vec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651A9-6009-E007-516E-B71581EF7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963" y="1628775"/>
            <a:ext cx="5831598" cy="4673600"/>
          </a:xfrm>
        </p:spPr>
        <p:txBody>
          <a:bodyPr/>
          <a:lstStyle/>
          <a:p>
            <a:r>
              <a:rPr lang="en-GB" dirty="0">
                <a:latin typeface="Aptos" panose="020B0004020202020204" pitchFamily="34" charset="0"/>
              </a:rPr>
              <a:t>Currently available:</a:t>
            </a:r>
          </a:p>
          <a:p>
            <a:pPr lvl="1"/>
            <a:r>
              <a:rPr lang="en-GB" dirty="0">
                <a:solidFill>
                  <a:srgbClr val="7030A0"/>
                </a:solidFill>
                <a:latin typeface="Aptos" panose="020B0004020202020204" pitchFamily="34" charset="0"/>
              </a:rPr>
              <a:t>Fast tree sampling (~0.3 </a:t>
            </a:r>
            <a:r>
              <a:rPr lang="en-GB" dirty="0" err="1">
                <a:solidFill>
                  <a:srgbClr val="7030A0"/>
                </a:solidFill>
                <a:latin typeface="Aptos" panose="020B0004020202020204" pitchFamily="34" charset="0"/>
              </a:rPr>
              <a:t>ms</a:t>
            </a:r>
            <a:r>
              <a:rPr lang="en-GB" dirty="0">
                <a:solidFill>
                  <a:srgbClr val="7030A0"/>
                </a:solidFill>
                <a:latin typeface="Aptos" panose="020B0004020202020204" pitchFamily="34" charset="0"/>
              </a:rPr>
              <a:t> for 100k leaves)</a:t>
            </a:r>
          </a:p>
          <a:p>
            <a:pPr lvl="1"/>
            <a:r>
              <a:rPr lang="en-GB" dirty="0">
                <a:solidFill>
                  <a:srgbClr val="FF0000"/>
                </a:solidFill>
                <a:latin typeface="Aptos" panose="020B0004020202020204" pitchFamily="34" charset="0"/>
              </a:rPr>
              <a:t>Compress Newick data</a:t>
            </a:r>
          </a:p>
          <a:p>
            <a:pPr lvl="1"/>
            <a:r>
              <a:rPr lang="en-GB" dirty="0">
                <a:latin typeface="Aptos" panose="020B0004020202020204" pitchFamily="34" charset="0"/>
              </a:rPr>
              <a:t>Standard tree operations + metrics</a:t>
            </a:r>
          </a:p>
          <a:p>
            <a:pPr lvl="1"/>
            <a:r>
              <a:rPr lang="en-GB" dirty="0">
                <a:latin typeface="Aptos" panose="020B0004020202020204" pitchFamily="34" charset="0"/>
              </a:rPr>
              <a:t>I/O operations</a:t>
            </a:r>
          </a:p>
          <a:p>
            <a:pPr lvl="1"/>
            <a:r>
              <a:rPr lang="en-GB" dirty="0"/>
              <a:t>Examples of phylo2vec-derived optimisation schemes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2DE7-268C-A5E6-6AF8-66F1E849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E1D4E-DB08-C55E-D206-0786CF93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University of Copenhagen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D96CD-E38A-F43A-99F2-5B08FDDD8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en-GB" smtClean="0"/>
              <a:t>23</a:t>
            </a:fld>
            <a:endParaRPr lang="en-GB" dirty="0"/>
          </a:p>
        </p:txBody>
      </p:sp>
      <p:pic>
        <p:nvPicPr>
          <p:cNvPr id="9" name="Content Placeholder 8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989E03F8-DF78-CA42-22BE-8057DE081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471" y="115725"/>
            <a:ext cx="3865418" cy="3883439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9CE984-4E0E-4A6E-4E75-F7AABB847B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1755" y="4057065"/>
            <a:ext cx="6064338" cy="278149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26797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5BA0-24CC-1A9A-88CC-DDBD7CEE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 to the workshop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6934-8436-9DFA-C375-F834C1B8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GB" sz="3000" dirty="0">
              <a:hlinkClick r:id="rId3"/>
            </a:endParaRPr>
          </a:p>
          <a:p>
            <a:pPr marL="0" indent="0" algn="ctr">
              <a:buNone/>
            </a:pPr>
            <a:endParaRPr lang="en-GB" sz="3000" dirty="0">
              <a:hlinkClick r:id="rId3"/>
            </a:endParaRPr>
          </a:p>
          <a:p>
            <a:pPr marL="0" indent="0" algn="ctr">
              <a:buNone/>
            </a:pPr>
            <a:endParaRPr lang="en-GB" sz="3000" dirty="0">
              <a:hlinkClick r:id="rId3"/>
            </a:endParaRPr>
          </a:p>
          <a:p>
            <a:pPr marL="0" indent="0" algn="ctr">
              <a:buNone/>
            </a:pPr>
            <a:endParaRPr lang="en-GB" sz="3000" dirty="0">
              <a:hlinkClick r:id="rId3"/>
            </a:endParaRPr>
          </a:p>
          <a:p>
            <a:pPr marL="0" indent="0" algn="ctr">
              <a:buNone/>
            </a:pPr>
            <a:r>
              <a:rPr lang="en-GB" sz="3000" dirty="0">
                <a:hlinkClick r:id="rId3"/>
              </a:rPr>
              <a:t>https://www.github.com/sbhattlab/phylo2vec-workshop</a:t>
            </a:r>
            <a:endParaRPr lang="en-GB" sz="3000" dirty="0"/>
          </a:p>
          <a:p>
            <a:pPr marL="0" indent="0" algn="ctr">
              <a:buNone/>
            </a:pPr>
            <a:endParaRPr lang="en-GB" sz="3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C3577-E4CD-2733-B956-17098799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A2488-620E-4717-952D-4163044243D3}" type="datetime1">
              <a:rPr lang="da-DK" smtClean="0"/>
              <a:pPr/>
              <a:t>04-01-2026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30D2A-3D2A-D640-DE79-0B202E60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926C-488A-4E3E-9C21-57CAA120E114}" type="slidenum">
              <a:rPr lang="da-DK" smtClean="0"/>
              <a:pPr/>
              <a:t>24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7595476"/>
      </p:ext>
    </p:extLst>
  </p:cSld>
  <p:clrMapOvr>
    <a:masterClrMapping/>
  </p:clrMapOvr>
</p:sld>
</file>

<file path=ppt/theme/theme1.xml><?xml version="1.0" encoding="utf-8"?>
<a:theme xmlns:a="http://schemas.openxmlformats.org/drawingml/2006/main" name="Brugerdefineret design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>
          <a:solidFill>
            <a:schemeClr val="accent1"/>
          </a:solidFill>
        </a:ln>
      </a:spPr>
      <a:bodyPr wrap="square" rtlCol="0" anchor="ctr">
        <a:noAutofit/>
      </a:bodyPr>
      <a:lstStyle>
        <a:defPPr algn="l">
          <a:defRPr sz="2400" dirty="0" err="1" smtClean="0">
            <a:solidFill>
              <a:schemeClr val="bg1"/>
            </a:solidFill>
          </a:defRPr>
        </a:defPPr>
      </a:lstStyle>
    </a:spDef>
    <a:txDef>
      <a:spPr/>
      <a:bodyPr vert="horz" wrap="square" lIns="0" tIns="0" rIns="0" bIns="0" rtlCol="0" anchor="t" anchorCtr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ct val="0"/>
          </a:spcBef>
          <a:spcAft>
            <a:spcPts val="0"/>
          </a:spcAft>
          <a:buClrTx/>
          <a:buSzTx/>
          <a:buFontTx/>
          <a:buNone/>
          <a:tabLst/>
          <a:defRPr sz="2400" b="0" dirty="0" smtClean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5543F3BF-36F3-4963-802B-107C5B2B2BE9}" vid="{1A6B4748-6059-4D52-A034-550C0EAB7ADD}"/>
    </a:ext>
  </a:extLst>
</a:theme>
</file>

<file path=ppt/theme/theme2.xml><?xml version="1.0" encoding="utf-8"?>
<a:theme xmlns:a="http://schemas.openxmlformats.org/drawingml/2006/main" name="Office Theme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KU 2023">
      <a:dk1>
        <a:srgbClr val="000000"/>
      </a:dk1>
      <a:lt1>
        <a:srgbClr val="FFFFFF"/>
      </a:lt1>
      <a:dk2>
        <a:srgbClr val="6E6E6E"/>
      </a:dk2>
      <a:lt2>
        <a:srgbClr val="E7E6E6"/>
      </a:lt2>
      <a:accent1>
        <a:srgbClr val="A31D20"/>
      </a:accent1>
      <a:accent2>
        <a:srgbClr val="7B7B7B"/>
      </a:accent2>
      <a:accent3>
        <a:srgbClr val="C73028"/>
      </a:accent3>
      <a:accent4>
        <a:srgbClr val="415570"/>
      </a:accent4>
      <a:accent5>
        <a:srgbClr val="197F8E"/>
      </a:accent5>
      <a:accent6>
        <a:srgbClr val="4B8324"/>
      </a:accent6>
      <a:hlink>
        <a:srgbClr val="A31D20"/>
      </a:hlink>
      <a:folHlink>
        <a:srgbClr val="000000"/>
      </a:folHlink>
    </a:clrScheme>
    <a:fontScheme name="KU 2023">
      <a:majorFont>
        <a:latin typeface="Microsoft New Tai Lue"/>
        <a:ea typeface=""/>
        <a:cs typeface=""/>
      </a:majorFont>
      <a:minorFont>
        <a:latin typeface="Microsoft New Tai Lue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1578</TotalTime>
  <Words>1675</Words>
  <Application>Microsoft Office PowerPoint</Application>
  <PresentationFormat>Widescreen</PresentationFormat>
  <Paragraphs>341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Cambria Math</vt:lpstr>
      <vt:lpstr>Microsoft New Tai Lue</vt:lpstr>
      <vt:lpstr>Wingdings</vt:lpstr>
      <vt:lpstr>Brugerdefineret design</vt:lpstr>
      <vt:lpstr>PowerPoint Presentation</vt:lpstr>
      <vt:lpstr>Overview</vt:lpstr>
      <vt:lpstr>Motivation Machine/deep learning</vt:lpstr>
      <vt:lpstr>Motivation Machine/deep learning</vt:lpstr>
      <vt:lpstr>Motivation Representing trees</vt:lpstr>
      <vt:lpstr>Motivation Representing trees</vt:lpstr>
      <vt:lpstr>phylo2vec</vt:lpstr>
      <vt:lpstr>Assumptions</vt:lpstr>
      <vt:lpstr>Definition</vt:lpstr>
      <vt:lpstr>Converting a vector to a tree Initial conditions</vt:lpstr>
      <vt:lpstr>phylo2vec: converting a vector to a tree Example: v = [0, 2, 2, 5, 2]</vt:lpstr>
      <vt:lpstr>phylo2vec: converting a vector to a tree Example: v = [0, 2, 2, 5, 2]</vt:lpstr>
      <vt:lpstr>phylo2vec: converting a vector to a tree Example: v = [0, 2, 2, 5, 2]</vt:lpstr>
      <vt:lpstr>phylo2vec: converting a vector to a tree Renaming the branches</vt:lpstr>
      <vt:lpstr>phylo2vec: converting a vector to a tree Renaming the branches</vt:lpstr>
      <vt:lpstr>phylo2vec: converting a vector to a tree Renaming the branches</vt:lpstr>
      <vt:lpstr>phylo2vec: convert a vector to a tree In practice</vt:lpstr>
      <vt:lpstr>phylo2vec: convert a tree to a vector Example: (((0,2)4,1)5,3)6;</vt:lpstr>
      <vt:lpstr>phylo2vec: convert a tree to a vector Example: (((0,2)4,1)5,3)6;</vt:lpstr>
      <vt:lpstr>phylo2vec: convert a tree to a vector Example: (((0,2)4,1)5,3)6;</vt:lpstr>
      <vt:lpstr>phylo2vec: convert a tree to a vector In practice</vt:lpstr>
      <vt:lpstr>Software</vt:lpstr>
      <vt:lpstr>What you can (currently) do with phylo2vec</vt:lpstr>
      <vt:lpstr>Link to the workshop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Alexandre Scheidwasser</dc:creator>
  <cp:lastModifiedBy>Neil Alexandre Scheidwasser</cp:lastModifiedBy>
  <cp:revision>48</cp:revision>
  <dcterms:created xsi:type="dcterms:W3CDTF">2025-09-18T11:09:28Z</dcterms:created>
  <dcterms:modified xsi:type="dcterms:W3CDTF">2026-01-04T16:57:07Z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www.skabelon.dk</vt:lpwstr>
  </property>
</Properties>
</file>